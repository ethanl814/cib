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Carry-trade return, % per year (dollar-neutral, 2000–2026)</a:t>
            </a:r>
          </a:p>
        </c:rich>
      </c:tx>
      <c:layout/>
      <c:overlay val="0"/>
    </c:title>
    <c:autoTitleDeleted val="0"/>
    <c:plotArea>
      <c:barChart>
        <c:barDir val="col"/>
        <c:grouping val="clustered"/>
        <c:ser>
          <c:idx val="0"/>
          <c:order val="0"/>
          <c:tx>
            <c:strRef>
              <c:f>Sheet1!$B$1</c:f>
              <c:strCache>
                <c:ptCount val="1"/>
                <c:pt idx="0">
                  <c:v>Net exporters</c:v>
                </c:pt>
              </c:strCache>
            </c:strRef>
          </c:tx>
          <c:spPr>
            <a:solidFill>
              <a:srgbClr val="2A78D6"/>
            </a:solidFill>
          </c:spPr>
          <c:invertIfNegative val="0"/>
          <c:cat>
            <c:strRef>
              <c:f>Sheet1!$A$2:$A$3</c:f>
              <c:strCache>
                <c:ptCount val="2"/>
                <c:pt idx="0">
                  <c:v>High-carry currencies</c:v>
                </c:pt>
                <c:pt idx="1">
                  <c:v>Low-carry currencies</c:v>
                </c:pt>
              </c:strCache>
            </c:strRef>
          </c:cat>
          <c:val>
            <c:numRef>
              <c:f>Sheet1!$B$2:$B$3</c:f>
              <c:numCache>
                <c:formatCode>General</c:formatCode>
                <c:ptCount val="2"/>
                <c:pt idx="0">
                  <c:v>3.04</c:v>
                </c:pt>
                <c:pt idx="1">
                  <c:v>-1.38</c:v>
                </c:pt>
              </c:numCache>
            </c:numRef>
          </c:val>
        </c:ser>
        <c:ser>
          <c:idx val="1"/>
          <c:order val="1"/>
          <c:tx>
            <c:strRef>
              <c:f>Sheet1!$C$1</c:f>
              <c:strCache>
                <c:ptCount val="1"/>
                <c:pt idx="0">
                  <c:v>Net importers</c:v>
                </c:pt>
              </c:strCache>
            </c:strRef>
          </c:tx>
          <c:spPr>
            <a:solidFill>
              <a:srgbClr val="E34948"/>
            </a:solidFill>
          </c:spPr>
          <c:invertIfNegative val="0"/>
          <c:cat>
            <c:strRef>
              <c:f>Sheet1!$A$2:$A$3</c:f>
              <c:strCache>
                <c:ptCount val="2"/>
                <c:pt idx="0">
                  <c:v>High-carry currencies</c:v>
                </c:pt>
                <c:pt idx="1">
                  <c:v>Low-carry currencies</c:v>
                </c:pt>
              </c:strCache>
            </c:strRef>
          </c:cat>
          <c:val>
            <c:numRef>
              <c:f>Sheet1!$C$2:$C$3</c:f>
              <c:numCache>
                <c:formatCode>General</c:formatCode>
                <c:ptCount val="2"/>
                <c:pt idx="0">
                  <c:v>0.57</c:v>
                </c:pt>
                <c:pt idx="1">
                  <c:v>-1.8</c:v>
                </c:pt>
              </c:numCache>
            </c:numRef>
          </c:val>
        </c:ser>
        <c:dLbls>
          <c:numFmt formatCode="+0.0&quot;%&quot;;-0.0&quot;%&quot;" sourceLinked="0"/>
          <c:txPr>
            <a:bodyPr/>
            <a:lstStyle/>
            <a:p>
              <a:pPr>
                <a:defRPr sz="1200" b="1">
                  <a:solidFill>
                    <a:srgbClr val="1F2937"/>
                  </a:solidFill>
                </a:defRPr>
              </a:pPr>
            </a:p>
          </c:txPr>
          <c:dLblPos val="outEnd"/>
          <c:showLegendKey val="0"/>
          <c:showVal val="1"/>
          <c:showCatName val="0"/>
          <c:showSerName val="0"/>
          <c:showPercent val="0"/>
          <c:showBubbleSize val="0"/>
          <c:showLeaderLines val="1"/>
        </c:dLbls>
        <c:gapWidth val="80"/>
        <c:overlap val="-10"/>
        <c:axId val="-2068027336"/>
        <c:axId val="-2113994440"/>
      </c:barChart>
      <c:catAx>
        <c:axId val="-2068027336"/>
        <c:scaling>
          <c:orientation val="minMax"/>
        </c:scaling>
        <c:delete val="0"/>
        <c:axPos val="b"/>
        <c:majorTickMark val="out"/>
        <c:minorTickMark val="none"/>
        <c:tickLblPos val="low"/>
        <c:spPr>
          <a:ln>
            <a:solidFill>
              <a:srgbClr val="E5E7EB"/>
            </a:solidFill>
          </a:ln>
        </c:spPr>
        <c:txPr>
          <a:bodyPr/>
          <a:lstStyle/>
          <a:p>
            <a:pPr>
              <a:defRPr sz="1200">
                <a:solidFill>
                  <a:srgbClr val="374151"/>
                </a:solidFill>
              </a:defRPr>
            </a:pPr>
          </a:p>
        </c:txPr>
        <c:crossAx val="-2113994440"/>
        <c:crosses val="autoZero"/>
        <c:auto val="1"/>
        <c:lblAlgn val="ctr"/>
        <c:lblOffset val="100"/>
        <c:noMultiLvlLbl val="0"/>
      </c:catAx>
      <c:valAx>
        <c:axId val="-2113994440"/>
        <c:scaling/>
        <c:delete val="0"/>
        <c:axPos val="l"/>
        <c:majorGridlines>
          <c:spPr>
            <a:ln>
              <a:solidFill>
                <a:srgbClr val="E5E7EB"/>
              </a:solidFill>
            </a:ln>
          </c:spPr>
        </c:majorGridlines>
        <c:numFmt formatCode="0&quot;%&quot;" sourceLinked="0"/>
        <c:majorTickMark val="out"/>
        <c:minorTickMark val="none"/>
        <c:tickLblPos val="nextTo"/>
        <c:spPr>
          <a:ln>
            <a:noFill/>
          </a:ln>
        </c:spPr>
        <c:txPr>
          <a:bodyPr/>
          <a:lstStyle/>
          <a:p>
            <a:pPr>
              <a:defRPr sz="1100">
                <a:solidFill>
                  <a:srgbClr val="6B7280"/>
                </a:solidFill>
              </a:defRPr>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374151"/>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Sharpe ratio of each long/short signal, 2000–2026 (no costs)</a:t>
            </a:r>
          </a:p>
        </c:rich>
      </c:tx>
      <c:layout/>
      <c:overlay val="0"/>
    </c:title>
    <c:autoTitleDeleted val="0"/>
    <c:plotArea>
      <c:barChart>
        <c:barDir val="bar"/>
        <c:grouping val="clustered"/>
        <c:ser>
          <c:idx val="0"/>
          <c:order val="0"/>
          <c:tx>
            <c:strRef>
              <c:f>Sheet1!$B$1</c:f>
              <c:strCache>
                <c:ptCount val="1"/>
                <c:pt idx="0">
                  <c:v>Sharpe ratio</c:v>
                </c:pt>
              </c:strCache>
            </c:strRef>
          </c:tx>
          <c:invertIfNegative val="0"/>
          <c:dPt>
            <c:idx val="0"/>
            <c:invertIfNegative val="0"/>
            <c:spPr>
              <a:solidFill>
                <a:srgbClr val="9CA3AF"/>
              </a:solidFill>
            </c:spPr>
          </c:dPt>
          <c:dPt>
            <c:idx val="1"/>
            <c:invertIfNegative val="0"/>
            <c:spPr>
              <a:solidFill>
                <a:srgbClr val="9CA3AF"/>
              </a:solidFill>
            </c:spPr>
          </c:dPt>
          <c:dPt>
            <c:idx val="2"/>
            <c:invertIfNegative val="0"/>
            <c:spPr>
              <a:solidFill>
                <a:srgbClr val="9CA3AF"/>
              </a:solidFill>
            </c:spPr>
          </c:dPt>
          <c:dPt>
            <c:idx val="3"/>
            <c:invertIfNegative val="0"/>
            <c:spPr>
              <a:solidFill>
                <a:srgbClr val="9CA3AF"/>
              </a:solidFill>
            </c:spPr>
          </c:dPt>
          <c:dPt>
            <c:idx val="4"/>
            <c:invertIfNegative val="0"/>
            <c:spPr>
              <a:solidFill>
                <a:srgbClr val="9CA3AF"/>
              </a:solidFill>
            </c:spPr>
          </c:dPt>
          <c:dPt>
            <c:idx val="5"/>
            <c:invertIfNegative val="0"/>
            <c:spPr>
              <a:solidFill>
                <a:srgbClr val="EB6834"/>
              </a:solidFill>
            </c:spPr>
          </c:dPt>
          <c:dPt>
            <c:idx val="6"/>
            <c:invertIfNegative val="0"/>
            <c:spPr>
              <a:solidFill>
                <a:srgbClr val="EB6834"/>
              </a:solidFill>
            </c:spPr>
          </c:dPt>
          <c:dPt>
            <c:idx val="7"/>
            <c:invertIfNegative val="0"/>
            <c:spPr>
              <a:solidFill>
                <a:srgbClr val="EB6834"/>
              </a:solidFill>
            </c:spPr>
          </c:dPt>
          <c:dPt>
            <c:idx val="8"/>
            <c:invertIfNegative val="0"/>
            <c:spPr>
              <a:solidFill>
                <a:srgbClr val="14213D"/>
              </a:solidFill>
            </c:spPr>
          </c:dPt>
          <c:cat>
            <c:strRef>
              <c:f>Sheet1!$A$2:$A$10</c:f>
              <c:strCache>
                <c:ptCount val="9"/>
                <c:pt idx="0">
                  <c:v>Current account</c:v>
                </c:pt>
                <c:pt idx="1">
                  <c:v>Contrarian positioning</c:v>
                </c:pt>
                <c:pt idx="2">
                  <c:v>Value (REER)</c:v>
                </c:pt>
                <c:pt idx="3">
                  <c:v>UIP 'tension'</c:v>
                </c:pt>
                <c:pt idx="4">
                  <c:v>Momentum 12m</c:v>
                </c:pt>
                <c:pt idx="5">
                  <c:v>Trade balance, 12m change</c:v>
                </c:pt>
                <c:pt idx="6">
                  <c:v>Trade balance</c:v>
                </c:pt>
                <c:pt idx="7">
                  <c:v>Trade balance vs own 5y avg</c:v>
                </c:pt>
                <c:pt idx="8">
                  <c:v>Carry (rate gap)</c:v>
                </c:pt>
              </c:strCache>
            </c:strRef>
          </c:cat>
          <c:val>
            <c:numRef>
              <c:f>Sheet1!$B$2:$B$10</c:f>
              <c:numCache>
                <c:formatCode>General</c:formatCode>
                <c:ptCount val="9"/>
                <c:pt idx="0">
                  <c:v>-0.27</c:v>
                </c:pt>
                <c:pt idx="1">
                  <c:v>-0.16</c:v>
                </c:pt>
                <c:pt idx="2">
                  <c:v>-0.11</c:v>
                </c:pt>
                <c:pt idx="3">
                  <c:v>-0.04</c:v>
                </c:pt>
                <c:pt idx="4">
                  <c:v>0.11</c:v>
                </c:pt>
                <c:pt idx="5">
                  <c:v>0.33</c:v>
                </c:pt>
                <c:pt idx="6">
                  <c:v>0.35</c:v>
                </c:pt>
                <c:pt idx="7">
                  <c:v>0.52</c:v>
                </c:pt>
                <c:pt idx="8">
                  <c:v>0.61</c:v>
                </c:pt>
              </c:numCache>
            </c:numRef>
          </c:val>
        </c:ser>
        <c:dLbls>
          <c:numFmt formatCode="+0.00;-0.00" sourceLinked="0"/>
          <c:txPr>
            <a:bodyPr/>
            <a:lstStyle/>
            <a:p>
              <a:pPr>
                <a:defRPr sz="1100" b="1">
                  <a:solidFill>
                    <a:srgbClr val="1F2937"/>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low"/>
        <c:spPr>
          <a:ln>
            <a:solidFill>
              <a:srgbClr val="E5E7EB"/>
            </a:solidFill>
          </a:ln>
        </c:spPr>
        <c:txPr>
          <a:bodyPr/>
          <a:lstStyle/>
          <a:p>
            <a:pPr>
              <a:defRPr sz="1200">
                <a:solidFill>
                  <a:srgbClr val="374151"/>
                </a:solidFill>
              </a:defRPr>
            </a:pPr>
          </a:p>
        </c:txPr>
        <c:crossAx val="-2113994440"/>
        <c:crosses val="autoZero"/>
        <c:auto val="1"/>
        <c:lblAlgn val="ctr"/>
        <c:lblOffset val="100"/>
        <c:noMultiLvlLbl val="0"/>
      </c:catAx>
      <c:valAx>
        <c:axId val="-2113994440"/>
        <c:scaling/>
        <c:delete val="0"/>
        <c:axPos val="b"/>
        <c:majorGridlines>
          <c:spPr>
            <a:ln>
              <a:solidFill>
                <a:srgbClr val="E5E7EB"/>
              </a:solidFill>
            </a:ln>
          </c:spPr>
        </c:majorGridlines>
        <c:numFmt formatCode="0.0" sourceLinked="0"/>
        <c:majorTickMark val="out"/>
        <c:minorTickMark val="none"/>
        <c:tickLblPos val="nextTo"/>
        <c:spPr>
          <a:ln>
            <a:noFill/>
          </a:ln>
        </c:spPr>
        <c:txPr>
          <a:bodyPr/>
          <a:lstStyle/>
          <a:p>
            <a:pPr>
              <a:defRPr sz="1100">
                <a:solidFill>
                  <a:srgbClr val="6B7280"/>
                </a:solidFill>
              </a:defRPr>
            </a:pPr>
          </a:p>
        </c:txPr>
        <c:crossAx val="-2068027336"/>
        <c:crosses val="autoZero"/>
      </c:valAx>
    </c:plotArea>
    <c:dispBlanksAs val="gap"/>
  </c:chart>
  <c:txPr>
    <a:bodyPr/>
    <a:lstStyle/>
    <a:p>
      <a:pPr>
        <a:defRPr sz="1200">
          <a:solidFill>
            <a:srgbClr val="374151"/>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Core basket weights (% of each leg; + long, − short)</a:t>
            </a:r>
          </a:p>
        </c:rich>
      </c:tx>
      <c:layout/>
      <c:overlay val="0"/>
    </c:title>
    <c:autoTitleDeleted val="0"/>
    <c:plotArea>
      <c:barChart>
        <c:barDir val="bar"/>
        <c:grouping val="clustered"/>
        <c:ser>
          <c:idx val="0"/>
          <c:order val="0"/>
          <c:tx>
            <c:strRef>
              <c:f>Sheet1!$B$1</c:f>
              <c:strCache>
                <c:ptCount val="1"/>
                <c:pt idx="0">
                  <c:v>Core weight</c:v>
                </c:pt>
              </c:strCache>
            </c:strRef>
          </c:tx>
          <c:invertIfNegative val="0"/>
          <c:dPt>
            <c:idx val="0"/>
            <c:invertIfNegative val="0"/>
            <c:spPr>
              <a:solidFill>
                <a:srgbClr val="E34948"/>
              </a:solidFill>
            </c:spPr>
          </c:dPt>
          <c:dPt>
            <c:idx val="1"/>
            <c:invertIfNegative val="0"/>
            <c:spPr>
              <a:solidFill>
                <a:srgbClr val="E34948"/>
              </a:solidFill>
            </c:spPr>
          </c:dPt>
          <c:dPt>
            <c:idx val="2"/>
            <c:invertIfNegative val="0"/>
            <c:spPr>
              <a:solidFill>
                <a:srgbClr val="E34948"/>
              </a:solidFill>
            </c:spPr>
          </c:dPt>
          <c:dPt>
            <c:idx val="3"/>
            <c:invertIfNegative val="0"/>
            <c:spPr>
              <a:solidFill>
                <a:srgbClr val="E34948"/>
              </a:solidFill>
            </c:spPr>
          </c:dPt>
          <c:dPt>
            <c:idx val="4"/>
            <c:invertIfNegative val="0"/>
            <c:spPr>
              <a:solidFill>
                <a:srgbClr val="E34948"/>
              </a:solidFill>
            </c:spPr>
          </c:dPt>
          <c:dPt>
            <c:idx val="5"/>
            <c:invertIfNegative val="0"/>
            <c:spPr>
              <a:solidFill>
                <a:srgbClr val="E34948"/>
              </a:solidFill>
            </c:spPr>
          </c:dPt>
          <c:dPt>
            <c:idx val="6"/>
            <c:invertIfNegative val="0"/>
            <c:spPr>
              <a:solidFill>
                <a:srgbClr val="E34948"/>
              </a:solidFill>
            </c:spPr>
          </c:dPt>
          <c:dPt>
            <c:idx val="7"/>
            <c:invertIfNegative val="0"/>
            <c:spPr>
              <a:solidFill>
                <a:srgbClr val="2A78D6"/>
              </a:solidFill>
            </c:spPr>
          </c:dPt>
          <c:dPt>
            <c:idx val="8"/>
            <c:invertIfNegative val="0"/>
            <c:spPr>
              <a:solidFill>
                <a:srgbClr val="2A78D6"/>
              </a:solidFill>
            </c:spPr>
          </c:dPt>
          <c:dPt>
            <c:idx val="9"/>
            <c:invertIfNegative val="0"/>
            <c:spPr>
              <a:solidFill>
                <a:srgbClr val="2A78D6"/>
              </a:solidFill>
            </c:spPr>
          </c:dPt>
          <c:dPt>
            <c:idx val="10"/>
            <c:invertIfNegative val="0"/>
            <c:spPr>
              <a:solidFill>
                <a:srgbClr val="2A78D6"/>
              </a:solidFill>
            </c:spPr>
          </c:dPt>
          <c:dPt>
            <c:idx val="11"/>
            <c:invertIfNegative val="0"/>
            <c:spPr>
              <a:solidFill>
                <a:srgbClr val="2A78D6"/>
              </a:solidFill>
            </c:spPr>
          </c:dPt>
          <c:cat>
            <c:strRef>
              <c:f>Sheet1!$A$2:$A$13</c:f>
              <c:strCache>
                <c:ptCount val="12"/>
                <c:pt idx="0">
                  <c:v>GBP</c:v>
                </c:pt>
                <c:pt idx="1">
                  <c:v>NZD</c:v>
                </c:pt>
                <c:pt idx="2">
                  <c:v>JPY</c:v>
                </c:pt>
                <c:pt idx="3">
                  <c:v>CAD</c:v>
                </c:pt>
                <c:pt idx="4">
                  <c:v>SEK</c:v>
                </c:pt>
                <c:pt idx="5">
                  <c:v>INR</c:v>
                </c:pt>
                <c:pt idx="6">
                  <c:v>TRY</c:v>
                </c:pt>
                <c:pt idx="7">
                  <c:v>MXN</c:v>
                </c:pt>
                <c:pt idx="8">
                  <c:v>IDR</c:v>
                </c:pt>
                <c:pt idx="9">
                  <c:v>NOK</c:v>
                </c:pt>
                <c:pt idx="10">
                  <c:v>BRL</c:v>
                </c:pt>
                <c:pt idx="11">
                  <c:v>ZAR</c:v>
                </c:pt>
              </c:strCache>
            </c:strRef>
          </c:cat>
          <c:val>
            <c:numRef>
              <c:f>Sheet1!$B$2:$B$13</c:f>
              <c:numCache>
                <c:formatCode>General</c:formatCode>
                <c:ptCount val="12"/>
                <c:pt idx="0">
                  <c:v>-12.0</c:v>
                </c:pt>
                <c:pt idx="1">
                  <c:v>-12.0</c:v>
                </c:pt>
                <c:pt idx="2">
                  <c:v>-10.0</c:v>
                </c:pt>
                <c:pt idx="3">
                  <c:v>-10.0</c:v>
                </c:pt>
                <c:pt idx="4">
                  <c:v>-10.0</c:v>
                </c:pt>
                <c:pt idx="5">
                  <c:v>-4.0</c:v>
                </c:pt>
                <c:pt idx="6">
                  <c:v>-4.0</c:v>
                </c:pt>
                <c:pt idx="7">
                  <c:v>8.0</c:v>
                </c:pt>
                <c:pt idx="8">
                  <c:v>8.0</c:v>
                </c:pt>
                <c:pt idx="9">
                  <c:v>10.0</c:v>
                </c:pt>
                <c:pt idx="10">
                  <c:v>18.0</c:v>
                </c:pt>
                <c:pt idx="11">
                  <c:v>18.0</c:v>
                </c:pt>
              </c:numCache>
            </c:numRef>
          </c:val>
        </c:ser>
        <c:dLbls>
          <c:numFmt formatCode="+0;-0" sourceLinked="0"/>
          <c:txPr>
            <a:bodyPr/>
            <a:lstStyle/>
            <a:p>
              <a:pPr>
                <a:defRPr sz="1100" b="1">
                  <a:solidFill>
                    <a:srgbClr val="1F2937"/>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low"/>
        <c:spPr>
          <a:ln>
            <a:solidFill>
              <a:srgbClr val="E5E7EB"/>
            </a:solidFill>
          </a:ln>
        </c:spPr>
        <c:txPr>
          <a:bodyPr/>
          <a:lstStyle/>
          <a:p>
            <a:pPr>
              <a:defRPr sz="1200">
                <a:solidFill>
                  <a:srgbClr val="374151"/>
                </a:solidFill>
              </a:defRPr>
            </a:pPr>
          </a:p>
        </c:txPr>
        <c:crossAx val="-2113994440"/>
        <c:crosses val="autoZero"/>
        <c:auto val="1"/>
        <c:lblAlgn val="ctr"/>
        <c:lblOffset val="100"/>
        <c:noMultiLvlLbl val="0"/>
      </c:catAx>
      <c:valAx>
        <c:axId val="-2113994440"/>
        <c:scaling/>
        <c:delete val="0"/>
        <c:axPos val="b"/>
        <c:majorGridlines>
          <c:spPr>
            <a:ln>
              <a:solidFill>
                <a:srgbClr val="E5E7EB"/>
              </a:solidFill>
            </a:ln>
          </c:spPr>
        </c:majorGridlines>
        <c:numFmt formatCode="0&quot;%&quot;" sourceLinked="0"/>
        <c:majorTickMark val="out"/>
        <c:minorTickMark val="none"/>
        <c:tickLblPos val="nextTo"/>
        <c:spPr>
          <a:ln>
            <a:noFill/>
          </a:ln>
        </c:spPr>
        <c:txPr>
          <a:bodyPr/>
          <a:lstStyle/>
          <a:p>
            <a:pPr>
              <a:defRPr sz="1100">
                <a:solidFill>
                  <a:srgbClr val="6B7280"/>
                </a:solidFill>
              </a:defRPr>
            </a:pPr>
          </a:p>
        </c:txPr>
        <c:crossAx val="-2068027336"/>
        <c:crosses val="autoZero"/>
      </c:valAx>
    </c:plotArea>
    <c:dispBlanksAs val="gap"/>
  </c:chart>
  <c:txPr>
    <a:bodyPr/>
    <a:lstStyle/>
    <a:p>
      <a:pPr>
        <a:defRPr sz="1200">
          <a:solidFill>
            <a:srgbClr val="374151"/>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question from GM #2: the yen and rupee both hit record lows in 2026 despite central banks fighting back. This deck is an EXAMPLE of how to present the forex-drift research; replace text as needed.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pitch: theory says rates predict FX drift; policymakers push back; we look for a repeatable trade. Japan and India are the case studies from GM #2; the 17-currency panel is the real test.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Dashed line = where the currency 'should' be if it drifted by the rate gap. The yen went the opposite way, which is the profit of the yen carry trade. The rupee fell about as much as rates implied. Pooled across 17 currencies the slope is 0.25, not 1: rate gaps are a poor guide to FX drift.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support for the original intuition: the trade position tells you WHICH direction policymakers lean. Caveat: one country, and the yen's level (weak vs strong) also matters.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Interventions work short-term but don't fix the trend while the US-Japan rate gap stays wide. BoJ hikes are telegraphed and small relative to the gap, so the yen often weakens on the day ('sell the fact').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RBI smoothing makes rupee carry look safe (6.7% vol, 2nd lowest of 17), then the jumps arrive. Since 2013 long-rupee carry has earned ~0.6%/yr.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Domestic defence buys time; global rates decide the trend. That's the same lesson as Japan.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honestly: the original idea was reversed by the data. That's a strength of the pitch; it shows we tested it. Deficit currencies track the theory more closely (β 0.41 vs −0.20), so their high rates are real compensation for risk.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Goods trade matters, not the total current account (which is negative here). The 'vs own 5-year average' version rules out a static country bet: an IMPROVING trade balance predicts outperformance.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reframed thesis: harvest the interest-rate gap only where the trade balance supports the currency; fund it with currencies whose trade balance is deteriorating. A central bank spending reserves is a warning, not a floor.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was tested: monthly, only data published at the time (trade lagged 2 months, reserves 1), return = interest + FX move, realistic costs. Sharpe stays 0.61–0.79 across 12 recipe variations.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here; this is where judges will probe. The two-halves split shows stability, not a true out-of-sample test, because the strategy was chosen after seeing the full sample.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 this slide right before presenting: re-run the notebook to refresh positions.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caveats worth one sentence: carry is measured with interest rates rather than forward prices; the intervention evidence rests on a few dozen episodes; July 2026 intervention sizes are still estimates.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reframed thesis and invite questions. Point people to the repo for the notebook.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1097280"/>
            <a:ext cx="7315200" cy="320040"/>
          </a:xfrm>
          <a:prstGeom prst="rect">
            <a:avLst/>
          </a:prstGeom>
          <a:noFill/>
        </p:spPr>
        <p:txBody>
          <a:bodyPr wrap="square" lIns="0" rIns="0" tIns="0" bIns="0" anchor="t">
            <a:spAutoFit/>
          </a:bodyPr>
          <a:lstStyle/>
          <a:p>
            <a:pPr algn="l">
              <a:spcAft>
                <a:spcPts val="600"/>
              </a:spcAft>
            </a:pPr>
            <a:r>
              <a:rPr sz="1300" b="1" i="0">
                <a:solidFill>
                  <a:srgbClr val="C9D4E8"/>
                </a:solidFill>
                <a:latin typeface="Calibri"/>
              </a:rPr>
              <a:t>CIB QUANT RESEARCH  ·  EXAMPLE DECK</a:t>
            </a:r>
          </a:p>
        </p:txBody>
      </p:sp>
      <p:sp>
        <p:nvSpPr>
          <p:cNvPr id="3" name="TextBox 2"/>
          <p:cNvSpPr txBox="1"/>
          <p:nvPr/>
        </p:nvSpPr>
        <p:spPr>
          <a:xfrm>
            <a:off x="731520" y="1600200"/>
            <a:ext cx="7498079" cy="1280160"/>
          </a:xfrm>
          <a:prstGeom prst="rect">
            <a:avLst/>
          </a:prstGeom>
          <a:noFill/>
        </p:spPr>
        <p:txBody>
          <a:bodyPr wrap="square" lIns="0" rIns="0" tIns="0" bIns="0" anchor="t">
            <a:spAutoFit/>
          </a:bodyPr>
          <a:lstStyle/>
          <a:p>
            <a:pPr algn="l">
              <a:spcAft>
                <a:spcPts val="600"/>
              </a:spcAft>
            </a:pPr>
            <a:r>
              <a:rPr sz="6000" b="1" i="0">
                <a:solidFill>
                  <a:srgbClr val="FFFFFF"/>
                </a:solidFill>
                <a:latin typeface="Cambria"/>
              </a:rPr>
              <a:t>Forex Drift</a:t>
            </a:r>
          </a:p>
        </p:txBody>
      </p:sp>
      <p:sp>
        <p:nvSpPr>
          <p:cNvPr id="4" name="TextBox 3"/>
          <p:cNvSpPr txBox="1"/>
          <p:nvPr/>
        </p:nvSpPr>
        <p:spPr>
          <a:xfrm>
            <a:off x="731520" y="2788920"/>
            <a:ext cx="6949440" cy="1097280"/>
          </a:xfrm>
          <a:prstGeom prst="rect">
            <a:avLst/>
          </a:prstGeom>
          <a:noFill/>
        </p:spPr>
        <p:txBody>
          <a:bodyPr wrap="square" lIns="0" rIns="0" tIns="0" bIns="0" anchor="t">
            <a:spAutoFit/>
          </a:bodyPr>
          <a:lstStyle/>
          <a:p>
            <a:pPr algn="l">
              <a:spcAft>
                <a:spcPts val="600"/>
              </a:spcAft>
            </a:pPr>
            <a:r>
              <a:rPr sz="2000" b="0" i="0">
                <a:solidFill>
                  <a:srgbClr val="C9D4E8"/>
                </a:solidFill>
                <a:latin typeface="Calibri"/>
              </a:rPr>
              <a:t>Carry, intervention and the trade balance: what Japan and India teach us about trading currencies</a:t>
            </a:r>
          </a:p>
        </p:txBody>
      </p:sp>
      <p:sp>
        <p:nvSpPr>
          <p:cNvPr id="5" name="TextBox 4"/>
          <p:cNvSpPr txBox="1"/>
          <p:nvPr/>
        </p:nvSpPr>
        <p:spPr>
          <a:xfrm>
            <a:off x="731520" y="5120640"/>
            <a:ext cx="6858000" cy="548640"/>
          </a:xfrm>
          <a:prstGeom prst="rect">
            <a:avLst/>
          </a:prstGeom>
          <a:noFill/>
        </p:spPr>
        <p:txBody>
          <a:bodyPr wrap="square" lIns="0" rIns="0" tIns="0" bIns="0" anchor="t">
            <a:spAutoFit/>
          </a:bodyPr>
          <a:lstStyle/>
          <a:p>
            <a:pPr algn="l">
              <a:spcAft>
                <a:spcPts val="600"/>
              </a:spcAft>
            </a:pPr>
            <a:r>
              <a:rPr sz="1400" b="1" i="0">
                <a:solidFill>
                  <a:srgbClr val="FFFFFF"/>
                </a:solidFill>
                <a:latin typeface="Calibri"/>
              </a:rPr>
              <a:t>Capital Investments at Berkeley  ·  September 2026</a:t>
            </a:r>
          </a:p>
          <a:p>
            <a:pPr algn="l">
              <a:spcAft>
                <a:spcPts val="600"/>
              </a:spcAft>
            </a:pPr>
            <a:r>
              <a:rPr sz="1200" b="0" i="1">
                <a:solidFill>
                  <a:srgbClr val="C9D4E8"/>
                </a:solidFill>
                <a:latin typeface="Calibri"/>
              </a:rPr>
              <a:t>Draft template for the team's pitch: swap in your own words, keep the flow</a:t>
            </a:r>
          </a:p>
        </p:txBody>
      </p:sp>
      <p:sp>
        <p:nvSpPr>
          <p:cNvPr id="6" name="Oval 5"/>
          <p:cNvSpPr/>
          <p:nvPr/>
        </p:nvSpPr>
        <p:spPr>
          <a:xfrm>
            <a:off x="8595360" y="1737360"/>
            <a:ext cx="2011680" cy="20116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400" b="1">
                <a:solidFill>
                  <a:srgbClr val="FFFFFF"/>
                </a:solidFill>
                <a:latin typeface="Calibri"/>
              </a:rPr>
              <a:t>JPY</a:t>
            </a:r>
          </a:p>
        </p:txBody>
      </p:sp>
      <p:sp>
        <p:nvSpPr>
          <p:cNvPr id="7" name="Oval 6"/>
          <p:cNvSpPr/>
          <p:nvPr/>
        </p:nvSpPr>
        <p:spPr>
          <a:xfrm>
            <a:off x="9646920" y="3246120"/>
            <a:ext cx="1828800" cy="18288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a:solidFill>
                  <a:srgbClr val="FFFFFF"/>
                </a:solidFill>
                <a:latin typeface="Calibri"/>
              </a:rPr>
              <a:t>INR</a:t>
            </a:r>
          </a:p>
        </p:txBody>
      </p:sp>
      <p:sp>
        <p:nvSpPr>
          <p:cNvPr id="8" name="Oval 7"/>
          <p:cNvSpPr/>
          <p:nvPr/>
        </p:nvSpPr>
        <p:spPr>
          <a:xfrm>
            <a:off x="8412480" y="4160520"/>
            <a:ext cx="1188720" cy="1188720"/>
          </a:xfrm>
          <a:prstGeom prst="ellipse">
            <a:avLst/>
          </a:prstGeom>
          <a:solidFill>
            <a:srgbClr val="2233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C9D4E8"/>
                </a:solidFill>
                <a:latin typeface="Calibri"/>
              </a:rPr>
              <a:t>USD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2A78D6"/>
                </a:solidFill>
                <a:latin typeface="Calibri"/>
              </a:rPr>
              <a:t>THE QUESTION</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Rates should tell us where currencies drift. Do they?</a:t>
            </a:r>
          </a:p>
        </p:txBody>
      </p:sp>
      <p:sp>
        <p:nvSpPr>
          <p:cNvPr id="4" name="Rounded Rectangle 3"/>
          <p:cNvSpPr/>
          <p:nvPr/>
        </p:nvSpPr>
        <p:spPr>
          <a:xfrm>
            <a:off x="548640" y="1783080"/>
            <a:ext cx="5120640" cy="41605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48840"/>
            <a:ext cx="4480560" cy="3474720"/>
          </a:xfrm>
          <a:prstGeom prst="rect">
            <a:avLst/>
          </a:prstGeom>
          <a:noFill/>
        </p:spPr>
        <p:txBody>
          <a:bodyPr wrap="square" lIns="0" rIns="0" tIns="0" bIns="0" anchor="t">
            <a:spAutoFit/>
          </a:bodyPr>
          <a:lstStyle/>
          <a:p>
            <a:pPr algn="l">
              <a:spcAft>
                <a:spcPts val="1200"/>
              </a:spcAft>
            </a:pPr>
            <a:r>
              <a:rPr sz="1400" b="1" i="0">
                <a:solidFill>
                  <a:srgbClr val="C9D4E8"/>
                </a:solidFill>
                <a:latin typeface="Calibri"/>
              </a:rPr>
              <a:t>The theory (uncovered interest parity)</a:t>
            </a:r>
          </a:p>
          <a:p>
            <a:pPr algn="l">
              <a:spcAft>
                <a:spcPts val="1800"/>
              </a:spcAft>
            </a:pPr>
            <a:r>
              <a:rPr sz="2000" b="0" i="0">
                <a:solidFill>
                  <a:srgbClr val="FFFFFF"/>
                </a:solidFill>
                <a:latin typeface="Cambria"/>
              </a:rPr>
              <a:t>A currency with higher interest rates should lose value by about the rate gap, so no one earns a free lunch.</a:t>
            </a:r>
          </a:p>
          <a:p>
            <a:pPr algn="l">
              <a:spcAft>
                <a:spcPts val="600"/>
              </a:spcAft>
            </a:pPr>
            <a:r>
              <a:rPr sz="1600" b="0" i="0">
                <a:solidFill>
                  <a:srgbClr val="C9D4E8"/>
                </a:solidFill>
                <a:latin typeface="Calibri"/>
              </a:rPr>
              <a:t>Governments often fight that drift. Our idea: find where the fight creates a tradable pattern.</a:t>
            </a:r>
          </a:p>
        </p:txBody>
      </p:sp>
      <p:sp>
        <p:nvSpPr>
          <p:cNvPr id="6" name="TextBox 5"/>
          <p:cNvSpPr txBox="1"/>
          <p:nvPr/>
        </p:nvSpPr>
        <p:spPr>
          <a:xfrm>
            <a:off x="914400" y="5074920"/>
            <a:ext cx="4480560" cy="640080"/>
          </a:xfrm>
          <a:prstGeom prst="rect">
            <a:avLst/>
          </a:prstGeom>
          <a:noFill/>
        </p:spPr>
        <p:txBody>
          <a:bodyPr wrap="square" lIns="0" rIns="0" tIns="0" bIns="0" anchor="t">
            <a:spAutoFit/>
          </a:bodyPr>
          <a:lstStyle/>
          <a:p>
            <a:pPr algn="l">
              <a:spcAft>
                <a:spcPts val="200"/>
              </a:spcAft>
            </a:pPr>
            <a:r>
              <a:rPr sz="1200" b="1" i="0">
                <a:solidFill>
                  <a:srgbClr val="FFFFFF"/>
                </a:solidFill>
                <a:latin typeface="Calibri"/>
              </a:rPr>
              <a:t>Builds on GM #2 (22 Sep 2026)</a:t>
            </a:r>
          </a:p>
          <a:p>
            <a:pPr algn="l">
              <a:spcAft>
                <a:spcPts val="600"/>
              </a:spcAft>
            </a:pPr>
            <a:r>
              <a:rPr sz="1200" b="0" i="0">
                <a:solidFill>
                  <a:srgbClr val="C9D4E8"/>
                </a:solidFill>
                <a:latin typeface="Calibri"/>
              </a:rPr>
              <a:t>Japan case study (slide 10) · India FCNR case study (slide 11)</a:t>
            </a:r>
          </a:p>
        </p:txBody>
      </p:sp>
      <p:sp>
        <p:nvSpPr>
          <p:cNvPr id="7" name="Oval 6"/>
          <p:cNvSpPr/>
          <p:nvPr/>
        </p:nvSpPr>
        <p:spPr>
          <a:xfrm>
            <a:off x="6126480" y="1828800"/>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6903720" y="1810512"/>
            <a:ext cx="4754880" cy="1280160"/>
          </a:xfrm>
          <a:prstGeom prst="rect">
            <a:avLst/>
          </a:prstGeom>
          <a:noFill/>
        </p:spPr>
        <p:txBody>
          <a:bodyPr wrap="square" lIns="0" rIns="0" tIns="0" bIns="0" anchor="t">
            <a:spAutoFit/>
          </a:bodyPr>
          <a:lstStyle/>
          <a:p>
            <a:pPr algn="l">
              <a:spcAft>
                <a:spcPts val="400"/>
              </a:spcAft>
            </a:pPr>
            <a:r>
              <a:rPr sz="2000" b="1" i="0">
                <a:solidFill>
                  <a:srgbClr val="1F2937"/>
                </a:solidFill>
                <a:latin typeface="Cambria"/>
              </a:rPr>
              <a:t>Japan</a:t>
            </a:r>
          </a:p>
          <a:p>
            <a:pPr algn="l">
              <a:spcAft>
                <a:spcPts val="600"/>
              </a:spcAft>
            </a:pPr>
            <a:r>
              <a:rPr sz="1500" b="0" i="0">
                <a:solidFill>
                  <a:srgbClr val="374151"/>
                </a:solidFill>
                <a:latin typeface="Calibri"/>
              </a:rPr>
              <a:t>Yen at a 40-year low despite BoJ hikes and a rare joint US-Japan intervention (Jul 2026).</a:t>
            </a:r>
          </a:p>
        </p:txBody>
      </p:sp>
      <p:sp>
        <p:nvSpPr>
          <p:cNvPr id="9" name="Oval 8"/>
          <p:cNvSpPr/>
          <p:nvPr/>
        </p:nvSpPr>
        <p:spPr>
          <a:xfrm>
            <a:off x="6126480" y="3246120"/>
            <a:ext cx="566928" cy="56692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6903720" y="3227832"/>
            <a:ext cx="4754880" cy="1280160"/>
          </a:xfrm>
          <a:prstGeom prst="rect">
            <a:avLst/>
          </a:prstGeom>
          <a:noFill/>
        </p:spPr>
        <p:txBody>
          <a:bodyPr wrap="square" lIns="0" rIns="0" tIns="0" bIns="0" anchor="t">
            <a:spAutoFit/>
          </a:bodyPr>
          <a:lstStyle/>
          <a:p>
            <a:pPr algn="l">
              <a:spcAft>
                <a:spcPts val="400"/>
              </a:spcAft>
            </a:pPr>
            <a:r>
              <a:rPr sz="2000" b="1" i="0">
                <a:solidFill>
                  <a:srgbClr val="1F2937"/>
                </a:solidFill>
                <a:latin typeface="Cambria"/>
              </a:rPr>
              <a:t>India</a:t>
            </a:r>
          </a:p>
          <a:p>
            <a:pPr algn="l">
              <a:spcAft>
                <a:spcPts val="600"/>
              </a:spcAft>
            </a:pPr>
            <a:r>
              <a:rPr sz="1500" b="0" i="0">
                <a:solidFill>
                  <a:srgbClr val="374151"/>
                </a:solidFill>
                <a:latin typeface="Calibri"/>
              </a:rPr>
              <a:t>Rupee at record lows despite RBI dollar sales and a $52bn FCNR(B) deposit scheme.</a:t>
            </a:r>
          </a:p>
        </p:txBody>
      </p:sp>
      <p:sp>
        <p:nvSpPr>
          <p:cNvPr id="11" name="Oval 10"/>
          <p:cNvSpPr/>
          <p:nvPr/>
        </p:nvSpPr>
        <p:spPr>
          <a:xfrm>
            <a:off x="6126480" y="4663440"/>
            <a:ext cx="566928" cy="566928"/>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2" name="TextBox 11"/>
          <p:cNvSpPr txBox="1"/>
          <p:nvPr/>
        </p:nvSpPr>
        <p:spPr>
          <a:xfrm>
            <a:off x="6903720" y="4645152"/>
            <a:ext cx="4754880" cy="1280160"/>
          </a:xfrm>
          <a:prstGeom prst="rect">
            <a:avLst/>
          </a:prstGeom>
          <a:noFill/>
        </p:spPr>
        <p:txBody>
          <a:bodyPr wrap="square" lIns="0" rIns="0" tIns="0" bIns="0" anchor="t">
            <a:spAutoFit/>
          </a:bodyPr>
          <a:lstStyle/>
          <a:p>
            <a:pPr algn="l">
              <a:spcAft>
                <a:spcPts val="400"/>
              </a:spcAft>
            </a:pPr>
            <a:r>
              <a:rPr sz="2000" b="1" i="0">
                <a:solidFill>
                  <a:srgbClr val="1F2937"/>
                </a:solidFill>
                <a:latin typeface="Cambria"/>
              </a:rPr>
              <a:t>17 currencies</a:t>
            </a:r>
          </a:p>
          <a:p>
            <a:pPr algn="l">
              <a:spcAft>
                <a:spcPts val="600"/>
              </a:spcAft>
            </a:pPr>
            <a:r>
              <a:rPr sz="1500" b="0" i="0">
                <a:solidFill>
                  <a:srgbClr val="374151"/>
                </a:solidFill>
                <a:latin typeface="Calibri"/>
              </a:rPr>
              <a:t>Test whether the pattern generalises, then turn it into a strategy with rules.</a:t>
            </a:r>
          </a:p>
        </p:txBody>
      </p:sp>
      <p:sp>
        <p:nvSpPr>
          <p:cNvPr id="13" name="TextBox 12"/>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14" name="TextBox 13"/>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2A78D6"/>
                </a:solidFill>
                <a:latin typeface="Calibri"/>
              </a:rPr>
              <a:t>THE HOOK</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Rates said one thing. Currencies did another.</a:t>
            </a:r>
          </a:p>
        </p:txBody>
      </p:sp>
      <p:pic>
        <p:nvPicPr>
          <p:cNvPr id="4" name="Picture 3" descr="02_uip_vs_actual_jpy_inr.png"/>
          <p:cNvPicPr>
            <a:picLocks noChangeAspect="1"/>
          </p:cNvPicPr>
          <p:nvPr/>
        </p:nvPicPr>
        <p:blipFill>
          <a:blip r:embed="rId2"/>
          <a:stretch>
            <a:fillRect/>
          </a:stretch>
        </p:blipFill>
        <p:spPr>
          <a:xfrm>
            <a:off x="934166" y="1572768"/>
            <a:ext cx="10293186" cy="3154680"/>
          </a:xfrm>
          <a:prstGeom prst="rect">
            <a:avLst/>
          </a:prstGeom>
        </p:spPr>
      </p:pic>
      <p:sp>
        <p:nvSpPr>
          <p:cNvPr id="5" name="Rounded Rectangle 4"/>
          <p:cNvSpPr/>
          <p:nvPr/>
        </p:nvSpPr>
        <p:spPr>
          <a:xfrm>
            <a:off x="548640" y="4892040"/>
            <a:ext cx="3520440" cy="118872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020055"/>
            <a:ext cx="3063240" cy="640080"/>
          </a:xfrm>
          <a:prstGeom prst="rect">
            <a:avLst/>
          </a:prstGeom>
          <a:noFill/>
        </p:spPr>
        <p:txBody>
          <a:bodyPr wrap="square" lIns="0" rIns="0" tIns="0" bIns="0" anchor="t">
            <a:spAutoFit/>
          </a:bodyPr>
          <a:lstStyle/>
          <a:p>
            <a:pPr algn="l">
              <a:spcAft>
                <a:spcPts val="600"/>
              </a:spcAft>
            </a:pPr>
            <a:r>
              <a:rPr sz="3000" b="1" i="0">
                <a:solidFill>
                  <a:srgbClr val="2A78D6"/>
                </a:solidFill>
                <a:latin typeface="Cambria"/>
              </a:rPr>
              <a:t>+96%</a:t>
            </a:r>
          </a:p>
        </p:txBody>
      </p:sp>
      <p:sp>
        <p:nvSpPr>
          <p:cNvPr id="7" name="TextBox 6"/>
          <p:cNvSpPr txBox="1"/>
          <p:nvPr/>
        </p:nvSpPr>
        <p:spPr>
          <a:xfrm>
            <a:off x="777240" y="5641848"/>
            <a:ext cx="3063240" cy="365760"/>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Yen weaker than its rate-implied path since 2012</a:t>
            </a:r>
          </a:p>
        </p:txBody>
      </p:sp>
      <p:sp>
        <p:nvSpPr>
          <p:cNvPr id="8" name="Rounded Rectangle 7"/>
          <p:cNvSpPr/>
          <p:nvPr/>
        </p:nvSpPr>
        <p:spPr>
          <a:xfrm>
            <a:off x="4297679" y="4892040"/>
            <a:ext cx="3520440" cy="118872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79" y="5020055"/>
            <a:ext cx="3063240" cy="640080"/>
          </a:xfrm>
          <a:prstGeom prst="rect">
            <a:avLst/>
          </a:prstGeom>
          <a:noFill/>
        </p:spPr>
        <p:txBody>
          <a:bodyPr wrap="square" lIns="0" rIns="0" tIns="0" bIns="0" anchor="t">
            <a:spAutoFit/>
          </a:bodyPr>
          <a:lstStyle/>
          <a:p>
            <a:pPr algn="l">
              <a:spcAft>
                <a:spcPts val="600"/>
              </a:spcAft>
            </a:pPr>
            <a:r>
              <a:rPr sz="3000" b="1" i="0">
                <a:solidFill>
                  <a:srgbClr val="EB6834"/>
                </a:solidFill>
                <a:latin typeface="Cambria"/>
              </a:rPr>
              <a:t>−5%</a:t>
            </a:r>
          </a:p>
        </p:txBody>
      </p:sp>
      <p:sp>
        <p:nvSpPr>
          <p:cNvPr id="10" name="TextBox 9"/>
          <p:cNvSpPr txBox="1"/>
          <p:nvPr/>
        </p:nvSpPr>
        <p:spPr>
          <a:xfrm>
            <a:off x="4526279" y="5641848"/>
            <a:ext cx="3063240" cy="365760"/>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Rupee vs its rate-implied path: roughly on track</a:t>
            </a:r>
          </a:p>
        </p:txBody>
      </p:sp>
      <p:sp>
        <p:nvSpPr>
          <p:cNvPr id="11" name="Rounded Rectangle 10"/>
          <p:cNvSpPr/>
          <p:nvPr/>
        </p:nvSpPr>
        <p:spPr>
          <a:xfrm>
            <a:off x="8046719" y="4892040"/>
            <a:ext cx="3520440" cy="118872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5020055"/>
            <a:ext cx="3063240" cy="640080"/>
          </a:xfrm>
          <a:prstGeom prst="rect">
            <a:avLst/>
          </a:prstGeom>
          <a:noFill/>
        </p:spPr>
        <p:txBody>
          <a:bodyPr wrap="square" lIns="0" rIns="0" tIns="0" bIns="0" anchor="t">
            <a:spAutoFit/>
          </a:bodyPr>
          <a:lstStyle/>
          <a:p>
            <a:pPr algn="l">
              <a:spcAft>
                <a:spcPts val="600"/>
              </a:spcAft>
            </a:pPr>
            <a:r>
              <a:rPr sz="3000" b="1" i="0">
                <a:solidFill>
                  <a:srgbClr val="14213D"/>
                </a:solidFill>
                <a:latin typeface="Cambria"/>
              </a:rPr>
              <a:t>β = 0.25</a:t>
            </a:r>
          </a:p>
        </p:txBody>
      </p:sp>
      <p:sp>
        <p:nvSpPr>
          <p:cNvPr id="13" name="TextBox 12"/>
          <p:cNvSpPr txBox="1"/>
          <p:nvPr/>
        </p:nvSpPr>
        <p:spPr>
          <a:xfrm>
            <a:off x="8275319" y="5641848"/>
            <a:ext cx="3063240" cy="365760"/>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How much FX follows rate gaps across 17 currencies (theory says 1.0)</a:t>
            </a:r>
          </a:p>
        </p:txBody>
      </p:sp>
      <p:sp>
        <p:nvSpPr>
          <p:cNvPr id="14" name="TextBox 13"/>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FRED (Fed H.10 spot), OECD short rates; research.ipynb §2, §5.2</a:t>
            </a:r>
          </a:p>
        </p:txBody>
      </p:sp>
      <p:sp>
        <p:nvSpPr>
          <p:cNvPr id="15" name="TextBox 14"/>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16" name="TextBox 15"/>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2A78D6"/>
                </a:solidFill>
                <a:latin typeface="Calibri"/>
              </a:rPr>
              <a:t>JAPAN</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The trade balance decides which way Tokyo fights</a:t>
            </a:r>
          </a:p>
        </p:txBody>
      </p:sp>
      <p:pic>
        <p:nvPicPr>
          <p:cNvPr id="4" name="Picture 3" descr="03b_japan_trade_vs_intervention_direction.png"/>
          <p:cNvPicPr>
            <a:picLocks noChangeAspect="1"/>
          </p:cNvPicPr>
          <p:nvPr/>
        </p:nvPicPr>
        <p:blipFill>
          <a:blip r:embed="rId2"/>
          <a:stretch>
            <a:fillRect/>
          </a:stretch>
        </p:blipFill>
        <p:spPr>
          <a:xfrm>
            <a:off x="632168" y="1600200"/>
            <a:ext cx="6050862" cy="4572000"/>
          </a:xfrm>
          <a:prstGeom prst="rect">
            <a:avLst/>
          </a:prstGeom>
        </p:spPr>
      </p:pic>
      <p:sp>
        <p:nvSpPr>
          <p:cNvPr id="5" name="Rounded Rectangle 4"/>
          <p:cNvSpPr/>
          <p:nvPr/>
        </p:nvSpPr>
        <p:spPr>
          <a:xfrm>
            <a:off x="7086600" y="1645920"/>
            <a:ext cx="457200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69480" y="1828800"/>
            <a:ext cx="457200" cy="457200"/>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7909560" y="1801368"/>
            <a:ext cx="3566160" cy="1097280"/>
          </a:xfrm>
          <a:prstGeom prst="rect">
            <a:avLst/>
          </a:prstGeom>
          <a:noFill/>
        </p:spPr>
        <p:txBody>
          <a:bodyPr wrap="square" lIns="0" rIns="0" tIns="0" bIns="0" anchor="t">
            <a:spAutoFit/>
          </a:bodyPr>
          <a:lstStyle/>
          <a:p>
            <a:pPr algn="l">
              <a:spcAft>
                <a:spcPts val="300"/>
              </a:spcAft>
            </a:pPr>
            <a:r>
              <a:rPr sz="1500" b="1" i="0">
                <a:solidFill>
                  <a:srgbClr val="1F2937"/>
                </a:solidFill>
                <a:latin typeface="Calibri"/>
              </a:rPr>
              <a:t>Net exporter  ·  1993–2011</a:t>
            </a:r>
          </a:p>
          <a:p>
            <a:pPr algn="l">
              <a:spcAft>
                <a:spcPts val="600"/>
              </a:spcAft>
            </a:pPr>
            <a:r>
              <a:rPr sz="1250" b="0" i="0">
                <a:solidFill>
                  <a:srgbClr val="374151"/>
                </a:solidFill>
                <a:latin typeface="Calibri"/>
              </a:rPr>
              <a:t>MoF SOLD yen in every intervention to protect exporters (¥35tn in 2003–04 alone).</a:t>
            </a:r>
          </a:p>
        </p:txBody>
      </p:sp>
      <p:sp>
        <p:nvSpPr>
          <p:cNvPr id="8" name="Rounded Rectangle 7"/>
          <p:cNvSpPr/>
          <p:nvPr/>
        </p:nvSpPr>
        <p:spPr>
          <a:xfrm>
            <a:off x="7086600" y="3127248"/>
            <a:ext cx="457200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269480" y="331012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7909560" y="3282696"/>
            <a:ext cx="3566160" cy="1097280"/>
          </a:xfrm>
          <a:prstGeom prst="rect">
            <a:avLst/>
          </a:prstGeom>
          <a:noFill/>
        </p:spPr>
        <p:txBody>
          <a:bodyPr wrap="square" lIns="0" rIns="0" tIns="0" bIns="0" anchor="t">
            <a:spAutoFit/>
          </a:bodyPr>
          <a:lstStyle/>
          <a:p>
            <a:pPr algn="l">
              <a:spcAft>
                <a:spcPts val="300"/>
              </a:spcAft>
            </a:pPr>
            <a:r>
              <a:rPr sz="1500" b="1" i="0">
                <a:solidFill>
                  <a:srgbClr val="1F2937"/>
                </a:solidFill>
                <a:latin typeface="Calibri"/>
              </a:rPr>
              <a:t>Net importer  ·  2022–26</a:t>
            </a:r>
          </a:p>
          <a:p>
            <a:pPr algn="l">
              <a:spcAft>
                <a:spcPts val="600"/>
              </a:spcAft>
            </a:pPr>
            <a:r>
              <a:rPr sz="1250" b="0" i="0">
                <a:solidFill>
                  <a:srgbClr val="374151"/>
                </a:solidFill>
                <a:latin typeface="Calibri"/>
              </a:rPr>
              <a:t>MoF BOUGHT yen every time: ¥9tn (2022), ¥15tn (2024), ~¥27tn (2026, incl. the joint US operation).</a:t>
            </a:r>
          </a:p>
        </p:txBody>
      </p:sp>
      <p:sp>
        <p:nvSpPr>
          <p:cNvPr id="11" name="Rounded Rectangle 10"/>
          <p:cNvSpPr/>
          <p:nvPr/>
        </p:nvSpPr>
        <p:spPr>
          <a:xfrm>
            <a:off x="7086600" y="4608576"/>
            <a:ext cx="457200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269480" y="4791456"/>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3" name="TextBox 12"/>
          <p:cNvSpPr txBox="1"/>
          <p:nvPr/>
        </p:nvSpPr>
        <p:spPr>
          <a:xfrm>
            <a:off x="7909560" y="4764024"/>
            <a:ext cx="3566160" cy="1097280"/>
          </a:xfrm>
          <a:prstGeom prst="rect">
            <a:avLst/>
          </a:prstGeom>
          <a:noFill/>
        </p:spPr>
        <p:txBody>
          <a:bodyPr wrap="square" lIns="0" rIns="0" tIns="0" bIns="0" anchor="t">
            <a:spAutoFit/>
          </a:bodyPr>
          <a:lstStyle/>
          <a:p>
            <a:pPr algn="l">
              <a:spcAft>
                <a:spcPts val="300"/>
              </a:spcAft>
            </a:pPr>
            <a:r>
              <a:rPr sz="1500" b="1" i="0">
                <a:solidFill>
                  <a:srgbClr val="1F2937"/>
                </a:solidFill>
                <a:latin typeface="Calibri"/>
              </a:rPr>
              <a:t>The nuance</a:t>
            </a:r>
          </a:p>
          <a:p>
            <a:pPr algn="l">
              <a:spcAft>
                <a:spcPts val="600"/>
              </a:spcAft>
            </a:pPr>
            <a:r>
              <a:rPr sz="1250" b="0" i="0">
                <a:solidFill>
                  <a:srgbClr val="374151"/>
                </a:solidFill>
                <a:latin typeface="Calibri"/>
              </a:rPr>
              <a:t>The current account stayed positive throughout. It's goods trade, where a weak yen raises energy and food bills, that lines up.</a:t>
            </a:r>
          </a:p>
        </p:txBody>
      </p:sp>
      <p:sp>
        <p:nvSpPr>
          <p:cNvPr id="14" name="TextBox 13"/>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Japan Ministry of Finance intervention records 1991–2026; OECD trade; World Bank; research.ipynb §3.2</a:t>
            </a:r>
          </a:p>
        </p:txBody>
      </p:sp>
      <p:sp>
        <p:nvSpPr>
          <p:cNvPr id="15" name="TextBox 14"/>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16" name="TextBox 15"/>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2A78D6"/>
                </a:solidFill>
                <a:latin typeface="Calibri"/>
              </a:rPr>
              <a:t>JAPAN</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Intervention buys weeks, not trends</a:t>
            </a:r>
          </a:p>
        </p:txBody>
      </p:sp>
      <p:pic>
        <p:nvPicPr>
          <p:cNvPr id="4" name="Picture 3" descr="03e_2025_2026_closeup.png"/>
          <p:cNvPicPr>
            <a:picLocks noChangeAspect="1"/>
          </p:cNvPicPr>
          <p:nvPr/>
        </p:nvPicPr>
        <p:blipFill>
          <a:blip r:embed="rId2"/>
          <a:stretch>
            <a:fillRect/>
          </a:stretch>
        </p:blipFill>
        <p:spPr>
          <a:xfrm>
            <a:off x="548640" y="1645920"/>
            <a:ext cx="7498079" cy="3088735"/>
          </a:xfrm>
          <a:prstGeom prst="rect">
            <a:avLst/>
          </a:prstGeom>
        </p:spPr>
      </p:pic>
      <p:sp>
        <p:nvSpPr>
          <p:cNvPr id="5" name="TextBox 4"/>
          <p:cNvSpPr txBox="1"/>
          <p:nvPr/>
        </p:nvSpPr>
        <p:spPr>
          <a:xfrm>
            <a:off x="548640" y="4892040"/>
            <a:ext cx="7406640" cy="1097280"/>
          </a:xfrm>
          <a:prstGeom prst="rect">
            <a:avLst/>
          </a:prstGeom>
          <a:noFill/>
        </p:spPr>
        <p:txBody>
          <a:bodyPr wrap="square" lIns="0" rIns="0" tIns="0" bIns="0" anchor="t">
            <a:spAutoFit/>
          </a:bodyPr>
          <a:lstStyle/>
          <a:p>
            <a:pPr algn="l">
              <a:spcAft>
                <a:spcPts val="300"/>
              </a:spcAft>
            </a:pPr>
            <a:r>
              <a:rPr sz="1300" b="1" i="0">
                <a:solidFill>
                  <a:srgbClr val="2A78D6"/>
                </a:solidFill>
                <a:latin typeface="Calibri"/>
              </a:rPr>
              <a:t>What to say</a:t>
            </a:r>
          </a:p>
          <a:p>
            <a:pPr algn="l">
              <a:spcAft>
                <a:spcPts val="600"/>
              </a:spcAft>
            </a:pPr>
            <a:r>
              <a:rPr sz="1400" b="0" i="0">
                <a:solidFill>
                  <a:srgbClr val="374151"/>
                </a:solidFill>
                <a:latin typeface="Calibri"/>
              </a:rPr>
              <a:t>Each operation knocks USDJPY down 2–3% within days. But the April 2026 round (¥11.7tn at ~160) was fully reversed, and the yen went on to ~164 before the July joint operation.</a:t>
            </a:r>
          </a:p>
        </p:txBody>
      </p:sp>
      <p:sp>
        <p:nvSpPr>
          <p:cNvPr id="6" name="Rounded Rectangle 5"/>
          <p:cNvSpPr/>
          <p:nvPr/>
        </p:nvSpPr>
        <p:spPr>
          <a:xfrm>
            <a:off x="8412480" y="1645920"/>
            <a:ext cx="324612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1080" y="1773936"/>
            <a:ext cx="2788920" cy="640080"/>
          </a:xfrm>
          <a:prstGeom prst="rect">
            <a:avLst/>
          </a:prstGeom>
          <a:noFill/>
        </p:spPr>
        <p:txBody>
          <a:bodyPr wrap="square" lIns="0" rIns="0" tIns="0" bIns="0" anchor="t">
            <a:spAutoFit/>
          </a:bodyPr>
          <a:lstStyle/>
          <a:p>
            <a:pPr algn="l">
              <a:spcAft>
                <a:spcPts val="600"/>
              </a:spcAft>
            </a:pPr>
            <a:r>
              <a:rPr sz="3200" b="1" i="0">
                <a:solidFill>
                  <a:srgbClr val="14213D"/>
                </a:solidFill>
                <a:latin typeface="Cambria"/>
              </a:rPr>
              <a:t>68%</a:t>
            </a:r>
          </a:p>
        </p:txBody>
      </p:sp>
      <p:sp>
        <p:nvSpPr>
          <p:cNvPr id="8" name="TextBox 7"/>
          <p:cNvSpPr txBox="1"/>
          <p:nvPr/>
        </p:nvSpPr>
        <p:spPr>
          <a:xfrm>
            <a:off x="8641080" y="2395728"/>
            <a:ext cx="2788920" cy="502919"/>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of 28 intervention episodes still 'working' 60 trading days later</a:t>
            </a:r>
          </a:p>
        </p:txBody>
      </p:sp>
      <p:sp>
        <p:nvSpPr>
          <p:cNvPr id="9" name="Rounded Rectangle 8"/>
          <p:cNvSpPr/>
          <p:nvPr/>
        </p:nvSpPr>
        <p:spPr>
          <a:xfrm>
            <a:off x="8412480" y="3127248"/>
            <a:ext cx="324612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3255264"/>
            <a:ext cx="2788920" cy="640080"/>
          </a:xfrm>
          <a:prstGeom prst="rect">
            <a:avLst/>
          </a:prstGeom>
          <a:noFill/>
        </p:spPr>
        <p:txBody>
          <a:bodyPr wrap="square" lIns="0" rIns="0" tIns="0" bIns="0" anchor="t">
            <a:spAutoFit/>
          </a:bodyPr>
          <a:lstStyle/>
          <a:p>
            <a:pPr algn="l">
              <a:spcAft>
                <a:spcPts val="600"/>
              </a:spcAft>
            </a:pPr>
            <a:r>
              <a:rPr sz="3200" b="1" i="0">
                <a:solidFill>
                  <a:srgbClr val="2A78D6"/>
                </a:solidFill>
                <a:latin typeface="Cambria"/>
              </a:rPr>
              <a:t>4 of 6</a:t>
            </a:r>
          </a:p>
        </p:txBody>
      </p:sp>
      <p:sp>
        <p:nvSpPr>
          <p:cNvPr id="11" name="TextBox 10"/>
          <p:cNvSpPr txBox="1"/>
          <p:nvPr/>
        </p:nvSpPr>
        <p:spPr>
          <a:xfrm>
            <a:off x="8641080" y="3877056"/>
            <a:ext cx="2788920" cy="502919"/>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BoJ rate hikes since 2024 WEAKENED the yen on the day</a:t>
            </a:r>
          </a:p>
        </p:txBody>
      </p:sp>
      <p:sp>
        <p:nvSpPr>
          <p:cNvPr id="12" name="Rounded Rectangle 11"/>
          <p:cNvSpPr/>
          <p:nvPr/>
        </p:nvSpPr>
        <p:spPr>
          <a:xfrm>
            <a:off x="8412480" y="4608576"/>
            <a:ext cx="324612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41080" y="4736592"/>
            <a:ext cx="2788920" cy="640080"/>
          </a:xfrm>
          <a:prstGeom prst="rect">
            <a:avLst/>
          </a:prstGeom>
          <a:noFill/>
        </p:spPr>
        <p:txBody>
          <a:bodyPr wrap="square" lIns="0" rIns="0" tIns="0" bIns="0" anchor="t">
            <a:spAutoFit/>
          </a:bodyPr>
          <a:lstStyle/>
          <a:p>
            <a:pPr algn="l">
              <a:spcAft>
                <a:spcPts val="600"/>
              </a:spcAft>
            </a:pPr>
            <a:r>
              <a:rPr sz="3200" b="1" i="0">
                <a:solidFill>
                  <a:srgbClr val="E34948"/>
                </a:solidFill>
                <a:latin typeface="Cambria"/>
              </a:rPr>
              <a:t>~164</a:t>
            </a:r>
          </a:p>
        </p:txBody>
      </p:sp>
      <p:sp>
        <p:nvSpPr>
          <p:cNvPr id="14" name="TextBox 13"/>
          <p:cNvSpPr txBox="1"/>
          <p:nvPr/>
        </p:nvSpPr>
        <p:spPr>
          <a:xfrm>
            <a:off x="8641080" y="5358384"/>
            <a:ext cx="2788920" cy="502919"/>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Where the 2026 line in the sand ended up (145 in 2022, ~160 in 2024)</a:t>
            </a:r>
          </a:p>
        </p:txBody>
      </p:sp>
      <p:sp>
        <p:nvSpPr>
          <p:cNvPr id="15" name="TextBox 14"/>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Japan MoF; BoJ decisions; FRED DEXJPUS; research.ipynb §3.3–3.4</a:t>
            </a:r>
          </a:p>
        </p:txBody>
      </p:sp>
      <p:sp>
        <p:nvSpPr>
          <p:cNvPr id="16" name="TextBox 15"/>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17" name="TextBox 16"/>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Calibri"/>
              </a:rPr>
              <a:t>INDIA</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Rupee carry: up the stairs, down the elevator</a:t>
            </a:r>
          </a:p>
        </p:txBody>
      </p:sp>
      <p:pic>
        <p:nvPicPr>
          <p:cNvPr id="4" name="Picture 3" descr="04b_inr_actual_vs_uip_by_year.png"/>
          <p:cNvPicPr>
            <a:picLocks noChangeAspect="1"/>
          </p:cNvPicPr>
          <p:nvPr/>
        </p:nvPicPr>
        <p:blipFill>
          <a:blip r:embed="rId2"/>
          <a:stretch>
            <a:fillRect/>
          </a:stretch>
        </p:blipFill>
        <p:spPr>
          <a:xfrm>
            <a:off x="1619517" y="1572768"/>
            <a:ext cx="8922485" cy="3200400"/>
          </a:xfrm>
          <a:prstGeom prst="rect">
            <a:avLst/>
          </a:prstGeom>
        </p:spPr>
      </p:pic>
      <p:sp>
        <p:nvSpPr>
          <p:cNvPr id="5" name="Rounded Rectangle 4"/>
          <p:cNvSpPr/>
          <p:nvPr/>
        </p:nvSpPr>
        <p:spPr>
          <a:xfrm>
            <a:off x="548640" y="4892040"/>
            <a:ext cx="3520440" cy="118872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020055"/>
            <a:ext cx="3063240" cy="640080"/>
          </a:xfrm>
          <a:prstGeom prst="rect">
            <a:avLst/>
          </a:prstGeom>
          <a:noFill/>
        </p:spPr>
        <p:txBody>
          <a:bodyPr wrap="square" lIns="0" rIns="0" tIns="0" bIns="0" anchor="t">
            <a:spAutoFit/>
          </a:bodyPr>
          <a:lstStyle/>
          <a:p>
            <a:pPr algn="l">
              <a:spcAft>
                <a:spcPts val="600"/>
              </a:spcAft>
            </a:pPr>
            <a:r>
              <a:rPr sz="3000" b="1" i="0">
                <a:solidFill>
                  <a:srgbClr val="EB6834"/>
                </a:solidFill>
                <a:latin typeface="Cambria"/>
              </a:rPr>
              <a:t>2.6%/yr</a:t>
            </a:r>
          </a:p>
        </p:txBody>
      </p:sp>
      <p:sp>
        <p:nvSpPr>
          <p:cNvPr id="7" name="TextBox 6"/>
          <p:cNvSpPr txBox="1"/>
          <p:nvPr/>
        </p:nvSpPr>
        <p:spPr>
          <a:xfrm>
            <a:off x="777240" y="5641848"/>
            <a:ext cx="3063240" cy="365760"/>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Average rupee fall 2001–25, vs 4.5%/yr implied by rates</a:t>
            </a:r>
          </a:p>
        </p:txBody>
      </p:sp>
      <p:sp>
        <p:nvSpPr>
          <p:cNvPr id="8" name="Rounded Rectangle 7"/>
          <p:cNvSpPr/>
          <p:nvPr/>
        </p:nvSpPr>
        <p:spPr>
          <a:xfrm>
            <a:off x="4297679" y="4892040"/>
            <a:ext cx="3520440" cy="118872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79" y="5020055"/>
            <a:ext cx="3063240" cy="640080"/>
          </a:xfrm>
          <a:prstGeom prst="rect">
            <a:avLst/>
          </a:prstGeom>
          <a:noFill/>
        </p:spPr>
        <p:txBody>
          <a:bodyPr wrap="square" lIns="0" rIns="0" tIns="0" bIns="0" anchor="t">
            <a:spAutoFit/>
          </a:bodyPr>
          <a:lstStyle/>
          <a:p>
            <a:pPr algn="l">
              <a:spcAft>
                <a:spcPts val="600"/>
              </a:spcAft>
            </a:pPr>
            <a:r>
              <a:rPr sz="3000" b="1" i="0">
                <a:solidFill>
                  <a:srgbClr val="14213D"/>
                </a:solidFill>
                <a:latin typeface="Cambria"/>
              </a:rPr>
              <a:t>17 of 25</a:t>
            </a:r>
          </a:p>
        </p:txBody>
      </p:sp>
      <p:sp>
        <p:nvSpPr>
          <p:cNvPr id="10" name="TextBox 9"/>
          <p:cNvSpPr txBox="1"/>
          <p:nvPr/>
        </p:nvSpPr>
        <p:spPr>
          <a:xfrm>
            <a:off x="4526279" y="5641848"/>
            <a:ext cx="3063240" cy="365760"/>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Years the rupee fell LESS than rates implied: the 'stairs'</a:t>
            </a:r>
          </a:p>
        </p:txBody>
      </p:sp>
      <p:sp>
        <p:nvSpPr>
          <p:cNvPr id="11" name="Rounded Rectangle 10"/>
          <p:cNvSpPr/>
          <p:nvPr/>
        </p:nvSpPr>
        <p:spPr>
          <a:xfrm>
            <a:off x="8046719" y="4892040"/>
            <a:ext cx="3520440" cy="118872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5020055"/>
            <a:ext cx="3063240" cy="640080"/>
          </a:xfrm>
          <a:prstGeom prst="rect">
            <a:avLst/>
          </a:prstGeom>
          <a:noFill/>
        </p:spPr>
        <p:txBody>
          <a:bodyPr wrap="square" lIns="0" rIns="0" tIns="0" bIns="0" anchor="t">
            <a:spAutoFit/>
          </a:bodyPr>
          <a:lstStyle/>
          <a:p>
            <a:pPr algn="l">
              <a:spcAft>
                <a:spcPts val="600"/>
              </a:spcAft>
            </a:pPr>
            <a:r>
              <a:rPr sz="3000" b="1" i="0">
                <a:solidFill>
                  <a:srgbClr val="E34948"/>
                </a:solidFill>
                <a:latin typeface="Cambria"/>
              </a:rPr>
              <a:t>5 crashes</a:t>
            </a:r>
          </a:p>
        </p:txBody>
      </p:sp>
      <p:sp>
        <p:nvSpPr>
          <p:cNvPr id="13" name="TextBox 12"/>
          <p:cNvSpPr txBox="1"/>
          <p:nvPr/>
        </p:nvSpPr>
        <p:spPr>
          <a:xfrm>
            <a:off x="8275319" y="5641848"/>
            <a:ext cx="3063240" cy="365760"/>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2008, 2011, 2013, 2018, 2022: +9–21% jumps (the 'elevator')</a:t>
            </a:r>
          </a:p>
        </p:txBody>
      </p:sp>
      <p:sp>
        <p:nvSpPr>
          <p:cNvPr id="14" name="TextBox 13"/>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FRED DEXINUS, IRSTCI01INM156N; research.ipynb §4.1</a:t>
            </a:r>
          </a:p>
        </p:txBody>
      </p:sp>
      <p:sp>
        <p:nvSpPr>
          <p:cNvPr id="15" name="TextBox 14"/>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16" name="TextBox 15"/>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Calibri"/>
              </a:rPr>
              <a:t>INDIA</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Same rescue tool, two different outcomes</a:t>
            </a:r>
          </a:p>
        </p:txBody>
      </p:sp>
      <p:pic>
        <p:nvPicPr>
          <p:cNvPr id="4" name="Picture 3" descr="04e_fcnr_2013_vs_2026.png"/>
          <p:cNvPicPr>
            <a:picLocks noChangeAspect="1"/>
          </p:cNvPicPr>
          <p:nvPr/>
        </p:nvPicPr>
        <p:blipFill>
          <a:blip r:embed="rId2"/>
          <a:stretch>
            <a:fillRect/>
          </a:stretch>
        </p:blipFill>
        <p:spPr>
          <a:xfrm>
            <a:off x="1105433" y="1572768"/>
            <a:ext cx="9950652" cy="3108960"/>
          </a:xfrm>
          <a:prstGeom prst="rect">
            <a:avLst/>
          </a:prstGeom>
        </p:spPr>
      </p:pic>
      <p:sp>
        <p:nvSpPr>
          <p:cNvPr id="5" name="Rounded Rectangle 4"/>
          <p:cNvSpPr/>
          <p:nvPr/>
        </p:nvSpPr>
        <p:spPr>
          <a:xfrm>
            <a:off x="548640" y="4800600"/>
            <a:ext cx="544068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5001768"/>
            <a:ext cx="868680" cy="8686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2013</a:t>
            </a:r>
          </a:p>
        </p:txBody>
      </p:sp>
      <p:sp>
        <p:nvSpPr>
          <p:cNvPr id="7" name="TextBox 6"/>
          <p:cNvSpPr txBox="1"/>
          <p:nvPr/>
        </p:nvSpPr>
        <p:spPr>
          <a:xfrm>
            <a:off x="1828800" y="4910328"/>
            <a:ext cx="4023360" cy="1143000"/>
          </a:xfrm>
          <a:prstGeom prst="rect">
            <a:avLst/>
          </a:prstGeom>
          <a:noFill/>
        </p:spPr>
        <p:txBody>
          <a:bodyPr wrap="square" lIns="0" rIns="0" tIns="0" bIns="0" anchor="t">
            <a:spAutoFit/>
          </a:bodyPr>
          <a:lstStyle/>
          <a:p>
            <a:pPr algn="l">
              <a:spcAft>
                <a:spcPts val="300"/>
              </a:spcAft>
            </a:pPr>
            <a:r>
              <a:rPr sz="1250" b="0" i="0">
                <a:solidFill>
                  <a:srgbClr val="374151"/>
                </a:solidFill>
                <a:latin typeface="Calibri"/>
              </a:rPr>
              <a:t>$34bn raised</a:t>
            </a:r>
          </a:p>
          <a:p>
            <a:pPr algn="l">
              <a:spcAft>
                <a:spcPts val="300"/>
              </a:spcAft>
            </a:pPr>
            <a:r>
              <a:rPr sz="1250" b="0" i="0">
                <a:solidFill>
                  <a:srgbClr val="374151"/>
                </a:solidFill>
                <a:latin typeface="Calibri"/>
              </a:rPr>
              <a:t>Rupee +8% stronger during the window, +12% a year later</a:t>
            </a:r>
          </a:p>
          <a:p>
            <a:pPr algn="l">
              <a:spcAft>
                <a:spcPts val="300"/>
              </a:spcAft>
            </a:pPr>
            <a:r>
              <a:rPr sz="1250" b="0" i="0">
                <a:solidFill>
                  <a:srgbClr val="374151"/>
                </a:solidFill>
                <a:latin typeface="Calibri"/>
              </a:rPr>
              <a:t>Tailwind: the Fed surprised by NOT tapering (18 Sep 2013)</a:t>
            </a:r>
          </a:p>
        </p:txBody>
      </p:sp>
      <p:sp>
        <p:nvSpPr>
          <p:cNvPr id="8" name="Rounded Rectangle 7"/>
          <p:cNvSpPr/>
          <p:nvPr/>
        </p:nvSpPr>
        <p:spPr>
          <a:xfrm>
            <a:off x="6172200" y="4800600"/>
            <a:ext cx="544068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0" y="5001768"/>
            <a:ext cx="868680" cy="8686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2026</a:t>
            </a:r>
          </a:p>
        </p:txBody>
      </p:sp>
      <p:sp>
        <p:nvSpPr>
          <p:cNvPr id="10" name="TextBox 9"/>
          <p:cNvSpPr txBox="1"/>
          <p:nvPr/>
        </p:nvSpPr>
        <p:spPr>
          <a:xfrm>
            <a:off x="7452360" y="4910328"/>
            <a:ext cx="4023360" cy="1143000"/>
          </a:xfrm>
          <a:prstGeom prst="rect">
            <a:avLst/>
          </a:prstGeom>
          <a:noFill/>
        </p:spPr>
        <p:txBody>
          <a:bodyPr wrap="square" lIns="0" rIns="0" tIns="0" bIns="0" anchor="t">
            <a:spAutoFit/>
          </a:bodyPr>
          <a:lstStyle/>
          <a:p>
            <a:pPr algn="l">
              <a:spcAft>
                <a:spcPts val="300"/>
              </a:spcAft>
            </a:pPr>
            <a:r>
              <a:rPr sz="1250" b="0" i="0">
                <a:solidFill>
                  <a:srgbClr val="374151"/>
                </a:solidFill>
                <a:latin typeface="Calibri"/>
              </a:rPr>
              <a:t>$52bn raised, window closed early (31 Aug)</a:t>
            </a:r>
          </a:p>
          <a:p>
            <a:pPr algn="l">
              <a:spcAft>
                <a:spcPts val="300"/>
              </a:spcAft>
            </a:pPr>
            <a:r>
              <a:rPr sz="1250" b="0" i="0">
                <a:solidFill>
                  <a:srgbClr val="374151"/>
                </a:solidFill>
                <a:latin typeface="Calibri"/>
              </a:rPr>
              <a:t>Rupee flat: 95.0 → 95.8</a:t>
            </a:r>
          </a:p>
          <a:p>
            <a:pPr algn="l">
              <a:spcAft>
                <a:spcPts val="300"/>
              </a:spcAft>
            </a:pPr>
            <a:r>
              <a:rPr sz="1250" b="0" i="0">
                <a:solidFill>
                  <a:srgbClr val="374151"/>
                </a:solidFill>
                <a:latin typeface="Calibri"/>
              </a:rPr>
              <a:t>Headwind: the Fed HIKED (16 Sep 2026), oil ~$100</a:t>
            </a:r>
          </a:p>
        </p:txBody>
      </p:sp>
      <p:sp>
        <p:nvSpPr>
          <p:cNvPr id="11" name="TextBox 10"/>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FRED DEXINUS; RBI circulars; Business Standard; research.ipynb §4.4</a:t>
            </a:r>
          </a:p>
        </p:txBody>
      </p:sp>
      <p:sp>
        <p:nvSpPr>
          <p:cNvPr id="12" name="TextBox 11"/>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13" name="TextBox 12"/>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E34948"/>
                </a:solidFill>
                <a:latin typeface="Calibri"/>
              </a:rPr>
              <a:t>THE TWIST</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Net-importer carry is the WORST carry</a:t>
            </a:r>
          </a:p>
        </p:txBody>
      </p:sp>
      <p:graphicFrame>
        <p:nvGraphicFramePr>
          <p:cNvPr id="4" name="Chart 3"/>
          <p:cNvGraphicFramePr>
            <a:graphicFrameLocks noGrp="1"/>
          </p:cNvGraphicFramePr>
          <p:nvPr/>
        </p:nvGraphicFramePr>
        <p:xfrm>
          <a:off x="548640" y="1645920"/>
          <a:ext cx="6766560" cy="4389120"/>
        </p:xfrm>
        <a:graphic>
          <a:graphicData uri="http://schemas.openxmlformats.org/drawingml/2006/chart">
            <c:chart xmlns:c="http://schemas.openxmlformats.org/drawingml/2006/chart" r:id="rId2"/>
          </a:graphicData>
        </a:graphic>
      </p:graphicFrame>
      <p:sp>
        <p:nvSpPr>
          <p:cNvPr id="5" name="TextBox 4"/>
          <p:cNvSpPr txBox="1"/>
          <p:nvPr/>
        </p:nvSpPr>
        <p:spPr>
          <a:xfrm>
            <a:off x="7772400" y="1737360"/>
            <a:ext cx="3886200" cy="4297680"/>
          </a:xfrm>
          <a:prstGeom prst="rect">
            <a:avLst/>
          </a:prstGeom>
          <a:noFill/>
        </p:spPr>
        <p:txBody>
          <a:bodyPr wrap="square" lIns="0" rIns="0" tIns="0" bIns="0" anchor="t">
            <a:spAutoFit/>
          </a:bodyPr>
          <a:lstStyle/>
          <a:p>
            <a:pPr algn="l">
              <a:spcAft>
                <a:spcPts val="300"/>
              </a:spcAft>
            </a:pPr>
            <a:r>
              <a:rPr sz="1300" b="1" i="0">
                <a:solidFill>
                  <a:srgbClr val="6B7280"/>
                </a:solidFill>
                <a:latin typeface="Calibri"/>
              </a:rPr>
              <a:t>Our starting thesis</a:t>
            </a:r>
          </a:p>
          <a:p>
            <a:pPr algn="l">
              <a:spcAft>
                <a:spcPts val="1400"/>
              </a:spcAft>
            </a:pPr>
            <a:r>
              <a:rPr sz="1600" b="0" i="0">
                <a:solidFill>
                  <a:srgbClr val="374151"/>
                </a:solidFill>
                <a:latin typeface="Calibri"/>
              </a:rPr>
              <a:t>High-rate net importers get defended by their central banks, so buy them.</a:t>
            </a:r>
          </a:p>
          <a:p>
            <a:pPr algn="l">
              <a:spcAft>
                <a:spcPts val="300"/>
              </a:spcAft>
            </a:pPr>
            <a:r>
              <a:rPr sz="1300" b="1" i="0">
                <a:solidFill>
                  <a:srgbClr val="E34948"/>
                </a:solidFill>
                <a:latin typeface="Calibri"/>
              </a:rPr>
              <a:t>What the data says</a:t>
            </a:r>
          </a:p>
          <a:p>
            <a:pPr algn="l">
              <a:spcAft>
                <a:spcPts val="1400"/>
              </a:spcAft>
            </a:pPr>
            <a:r>
              <a:rPr sz="1600" b="0" i="0">
                <a:solidFill>
                  <a:srgbClr val="1F2937"/>
                </a:solidFill>
                <a:latin typeface="Calibri"/>
              </a:rPr>
              <a:t>They earn 0.6%/yr vs 3.0% for high-rate exporters, and crash harder (skew −1.4 vs −0.4). Holds in 13 of 14 robustness checks.</a:t>
            </a:r>
          </a:p>
          <a:p>
            <a:pPr algn="l">
              <a:spcAft>
                <a:spcPts val="600"/>
              </a:spcAft>
            </a:pPr>
            <a:r>
              <a:rPr sz="1600" b="0" i="1">
                <a:solidFill>
                  <a:srgbClr val="14213D"/>
                </a:solidFill>
                <a:latin typeface="Cambria"/>
              </a:rPr>
              <a:t>Defence delays the fall, then concentrates it into a crash.</a:t>
            </a:r>
          </a:p>
        </p:txBody>
      </p:sp>
      <p:sp>
        <p:nvSpPr>
          <p:cNvPr id="6" name="TextBox 5"/>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17-currency panel, monthly 2000–2026; research.ipynb §5.4</a:t>
            </a:r>
          </a:p>
        </p:txBody>
      </p:sp>
      <p:sp>
        <p:nvSpPr>
          <p:cNvPr id="7" name="TextBox 6"/>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8" name="TextBox 7"/>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2A78D6"/>
                </a:solidFill>
                <a:latin typeface="Calibri"/>
              </a:rPr>
              <a:t>THE NEW SIGNAL</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The trade balance is a signal of its own, and it hedges carry</a:t>
            </a:r>
          </a:p>
        </p:txBody>
      </p:sp>
      <p:graphicFrame>
        <p:nvGraphicFramePr>
          <p:cNvPr id="4" name="Chart 3"/>
          <p:cNvGraphicFramePr>
            <a:graphicFrameLocks noGrp="1"/>
          </p:cNvGraphicFramePr>
          <p:nvPr/>
        </p:nvGraphicFramePr>
        <p:xfrm>
          <a:off x="548640" y="1645920"/>
          <a:ext cx="6949440" cy="4434840"/>
        </p:xfrm>
        <a:graphic>
          <a:graphicData uri="http://schemas.openxmlformats.org/drawingml/2006/chart">
            <c:chart xmlns:c="http://schemas.openxmlformats.org/drawingml/2006/chart" r:id="rId2"/>
          </a:graphicData>
        </a:graphic>
      </p:graphicFrame>
      <p:sp>
        <p:nvSpPr>
          <p:cNvPr id="5" name="Rounded Rectangle 4"/>
          <p:cNvSpPr/>
          <p:nvPr/>
        </p:nvSpPr>
        <p:spPr>
          <a:xfrm>
            <a:off x="7863840" y="1645920"/>
            <a:ext cx="379476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1773936"/>
            <a:ext cx="3337560" cy="640080"/>
          </a:xfrm>
          <a:prstGeom prst="rect">
            <a:avLst/>
          </a:prstGeom>
          <a:noFill/>
        </p:spPr>
        <p:txBody>
          <a:bodyPr wrap="square" lIns="0" rIns="0" tIns="0" bIns="0" anchor="t">
            <a:spAutoFit/>
          </a:bodyPr>
          <a:lstStyle/>
          <a:p>
            <a:pPr algn="l">
              <a:spcAft>
                <a:spcPts val="600"/>
              </a:spcAft>
            </a:pPr>
            <a:r>
              <a:rPr sz="3400" b="1" i="0">
                <a:solidFill>
                  <a:srgbClr val="14213D"/>
                </a:solidFill>
                <a:latin typeface="Cambria"/>
              </a:rPr>
              <a:t>−0.32</a:t>
            </a:r>
          </a:p>
        </p:txBody>
      </p:sp>
      <p:sp>
        <p:nvSpPr>
          <p:cNvPr id="7" name="TextBox 6"/>
          <p:cNvSpPr txBox="1"/>
          <p:nvPr/>
        </p:nvSpPr>
        <p:spPr>
          <a:xfrm>
            <a:off x="8092440" y="2395728"/>
            <a:ext cx="3337560" cy="502919"/>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Correlation between the carry and trade-balance portfolios: they diversify</a:t>
            </a:r>
          </a:p>
        </p:txBody>
      </p:sp>
      <p:sp>
        <p:nvSpPr>
          <p:cNvPr id="8" name="Rounded Rectangle 7"/>
          <p:cNvSpPr/>
          <p:nvPr/>
        </p:nvSpPr>
        <p:spPr>
          <a:xfrm>
            <a:off x="7863840" y="3108960"/>
            <a:ext cx="379476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3236976"/>
            <a:ext cx="3337560" cy="640080"/>
          </a:xfrm>
          <a:prstGeom prst="rect">
            <a:avLst/>
          </a:prstGeom>
          <a:noFill/>
        </p:spPr>
        <p:txBody>
          <a:bodyPr wrap="square" lIns="0" rIns="0" tIns="0" bIns="0" anchor="t">
            <a:spAutoFit/>
          </a:bodyPr>
          <a:lstStyle/>
          <a:p>
            <a:pPr algn="l">
              <a:spcAft>
                <a:spcPts val="600"/>
              </a:spcAft>
            </a:pPr>
            <a:r>
              <a:rPr sz="3400" b="1" i="0">
                <a:solidFill>
                  <a:srgbClr val="EB6834"/>
                </a:solidFill>
                <a:latin typeface="Cambria"/>
              </a:rPr>
              <a:t>8 of 10</a:t>
            </a:r>
          </a:p>
        </p:txBody>
      </p:sp>
      <p:sp>
        <p:nvSpPr>
          <p:cNvPr id="10" name="TextBox 9"/>
          <p:cNvSpPr txBox="1"/>
          <p:nvPr/>
        </p:nvSpPr>
        <p:spPr>
          <a:xfrm>
            <a:off x="8092440" y="3858768"/>
            <a:ext cx="3337560" cy="502919"/>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Of carry's worst months (2008, 2020...), the trade-balance portfolio made money</a:t>
            </a:r>
          </a:p>
        </p:txBody>
      </p:sp>
      <p:sp>
        <p:nvSpPr>
          <p:cNvPr id="11" name="Rounded Rectangle 10"/>
          <p:cNvSpPr/>
          <p:nvPr/>
        </p:nvSpPr>
        <p:spPr>
          <a:xfrm>
            <a:off x="7863840" y="4572000"/>
            <a:ext cx="379476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4700016"/>
            <a:ext cx="3337560" cy="640080"/>
          </a:xfrm>
          <a:prstGeom prst="rect">
            <a:avLst/>
          </a:prstGeom>
          <a:noFill/>
        </p:spPr>
        <p:txBody>
          <a:bodyPr wrap="square" lIns="0" rIns="0" tIns="0" bIns="0" anchor="t">
            <a:spAutoFit/>
          </a:bodyPr>
          <a:lstStyle/>
          <a:p>
            <a:pPr algn="l">
              <a:spcAft>
                <a:spcPts val="600"/>
              </a:spcAft>
            </a:pPr>
            <a:r>
              <a:rPr sz="2800" b="1" i="0">
                <a:solidFill>
                  <a:srgbClr val="1B8F5F"/>
                </a:solidFill>
                <a:latin typeface="Cambria"/>
              </a:rPr>
              <a:t>Both halves</a:t>
            </a:r>
          </a:p>
        </p:txBody>
      </p:sp>
      <p:sp>
        <p:nvSpPr>
          <p:cNvPr id="13" name="TextBox 12"/>
          <p:cNvSpPr txBox="1"/>
          <p:nvPr/>
        </p:nvSpPr>
        <p:spPr>
          <a:xfrm>
            <a:off x="8092440" y="5321808"/>
            <a:ext cx="3337560" cy="502919"/>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Works in 2000–12 AND 2013–26; momentum, value and positioning don't</a:t>
            </a:r>
          </a:p>
        </p:txBody>
      </p:sp>
      <p:sp>
        <p:nvSpPr>
          <p:cNvPr id="14" name="TextBox 13"/>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research.ipynb §5.6–5.7</a:t>
            </a:r>
          </a:p>
        </p:txBody>
      </p:sp>
      <p:sp>
        <p:nvSpPr>
          <p:cNvPr id="15" name="TextBox 14"/>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16" name="TextBox 15"/>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C9D4E8"/>
                </a:solidFill>
                <a:latin typeface="Calibri"/>
              </a:rPr>
              <a:t>THE PROPOSAL</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FFFFFF"/>
                </a:solidFill>
                <a:latin typeface="Cambria"/>
              </a:rPr>
              <a:t>Three trades, one idea: carry where trade supports it</a:t>
            </a:r>
          </a:p>
        </p:txBody>
      </p:sp>
      <p:sp>
        <p:nvSpPr>
          <p:cNvPr id="4" name="Rounded Rectangle 3"/>
          <p:cNvSpPr/>
          <p:nvPr/>
        </p:nvSpPr>
        <p:spPr>
          <a:xfrm>
            <a:off x="548640" y="1783080"/>
            <a:ext cx="3520440" cy="4206240"/>
          </a:xfrm>
          <a:prstGeom prst="roundRect">
            <a:avLst>
              <a:gd name="adj" fmla="val 6000"/>
            </a:avLst>
          </a:prstGeom>
          <a:solidFill>
            <a:srgbClr val="22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057400"/>
            <a:ext cx="685800" cy="6858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01</a:t>
            </a:r>
          </a:p>
        </p:txBody>
      </p:sp>
      <p:sp>
        <p:nvSpPr>
          <p:cNvPr id="6" name="TextBox 5"/>
          <p:cNvSpPr txBox="1"/>
          <p:nvPr/>
        </p:nvSpPr>
        <p:spPr>
          <a:xfrm>
            <a:off x="1691640" y="2194560"/>
            <a:ext cx="2194560" cy="365760"/>
          </a:xfrm>
          <a:prstGeom prst="rect">
            <a:avLst/>
          </a:prstGeom>
          <a:noFill/>
        </p:spPr>
        <p:txBody>
          <a:bodyPr wrap="square" lIns="0" rIns="0" tIns="0" bIns="0" anchor="t">
            <a:spAutoFit/>
          </a:bodyPr>
          <a:lstStyle/>
          <a:p>
            <a:pPr algn="l">
              <a:spcAft>
                <a:spcPts val="600"/>
              </a:spcAft>
            </a:pPr>
            <a:r>
              <a:rPr sz="1300" b="1" i="0">
                <a:solidFill>
                  <a:srgbClr val="C9D4E8"/>
                </a:solidFill>
                <a:latin typeface="Calibri"/>
              </a:rPr>
              <a:t>CORE</a:t>
            </a:r>
          </a:p>
        </p:txBody>
      </p:sp>
      <p:sp>
        <p:nvSpPr>
          <p:cNvPr id="7" name="TextBox 6"/>
          <p:cNvSpPr txBox="1"/>
          <p:nvPr/>
        </p:nvSpPr>
        <p:spPr>
          <a:xfrm>
            <a:off x="822959" y="2971800"/>
            <a:ext cx="3017520" cy="868680"/>
          </a:xfrm>
          <a:prstGeom prst="rect">
            <a:avLst/>
          </a:prstGeom>
          <a:noFill/>
        </p:spPr>
        <p:txBody>
          <a:bodyPr wrap="square" lIns="0" rIns="0" tIns="0" bIns="0" anchor="t">
            <a:spAutoFit/>
          </a:bodyPr>
          <a:lstStyle/>
          <a:p>
            <a:pPr algn="l">
              <a:spcAft>
                <a:spcPts val="600"/>
              </a:spcAft>
            </a:pPr>
            <a:r>
              <a:rPr sz="1900" b="1" i="0">
                <a:solidFill>
                  <a:srgbClr val="FFFFFF"/>
                </a:solidFill>
                <a:latin typeface="Cambria"/>
              </a:rPr>
              <a:t>Carry + trade-balance basket</a:t>
            </a:r>
          </a:p>
        </p:txBody>
      </p:sp>
      <p:sp>
        <p:nvSpPr>
          <p:cNvPr id="8" name="TextBox 7"/>
          <p:cNvSpPr txBox="1"/>
          <p:nvPr/>
        </p:nvSpPr>
        <p:spPr>
          <a:xfrm>
            <a:off x="822959" y="3886200"/>
            <a:ext cx="3017520" cy="1371600"/>
          </a:xfrm>
          <a:prstGeom prst="rect">
            <a:avLst/>
          </a:prstGeom>
          <a:noFill/>
        </p:spPr>
        <p:txBody>
          <a:bodyPr wrap="square" lIns="0" rIns="0" tIns="0" bIns="0" anchor="t">
            <a:spAutoFit/>
          </a:bodyPr>
          <a:lstStyle/>
          <a:p>
            <a:pPr algn="l">
              <a:spcAft>
                <a:spcPts val="600"/>
              </a:spcAft>
            </a:pPr>
            <a:r>
              <a:rPr sz="1350" b="0" i="0">
                <a:solidFill>
                  <a:srgbClr val="C9D4E8"/>
                </a:solidFill>
                <a:latin typeface="Calibri"/>
              </a:rPr>
              <a:t>Each month rank 17 currencies. Half: long high-rate / short low-rate. Half: long net exporters / short net importers.</a:t>
            </a:r>
          </a:p>
        </p:txBody>
      </p:sp>
      <p:sp>
        <p:nvSpPr>
          <p:cNvPr id="9" name="TextBox 8"/>
          <p:cNvSpPr txBox="1"/>
          <p:nvPr/>
        </p:nvSpPr>
        <p:spPr>
          <a:xfrm>
            <a:off x="822959" y="4983480"/>
            <a:ext cx="3017520" cy="365760"/>
          </a:xfrm>
          <a:prstGeom prst="rect">
            <a:avLst/>
          </a:prstGeom>
          <a:noFill/>
        </p:spPr>
        <p:txBody>
          <a:bodyPr wrap="square" lIns="0" rIns="0" tIns="0" bIns="0" anchor="t">
            <a:spAutoFit/>
          </a:bodyPr>
          <a:lstStyle/>
          <a:p>
            <a:pPr algn="l">
              <a:spcAft>
                <a:spcPts val="600"/>
              </a:spcAft>
            </a:pPr>
            <a:r>
              <a:rPr sz="1300" b="0" i="0">
                <a:solidFill>
                  <a:srgbClr val="C9D4E8"/>
                </a:solidFill>
                <a:latin typeface="Calibri"/>
              </a:rPr>
              <a:t>Sharpe 0.73 (carry alone 0.44)</a:t>
            </a:r>
          </a:p>
        </p:txBody>
      </p:sp>
      <p:sp>
        <p:nvSpPr>
          <p:cNvPr id="10" name="TextBox 9"/>
          <p:cNvSpPr txBox="1"/>
          <p:nvPr/>
        </p:nvSpPr>
        <p:spPr>
          <a:xfrm>
            <a:off x="822959" y="5440680"/>
            <a:ext cx="3017520" cy="365760"/>
          </a:xfrm>
          <a:prstGeom prst="rect">
            <a:avLst/>
          </a:prstGeom>
          <a:noFill/>
        </p:spPr>
        <p:txBody>
          <a:bodyPr wrap="square" lIns="0" rIns="0" tIns="0" bIns="0" anchor="t">
            <a:spAutoFit/>
          </a:bodyPr>
          <a:lstStyle/>
          <a:p>
            <a:pPr algn="l">
              <a:spcAft>
                <a:spcPts val="600"/>
              </a:spcAft>
            </a:pPr>
            <a:r>
              <a:rPr sz="1300" b="1" i="0">
                <a:solidFill>
                  <a:srgbClr val="FFFFFF"/>
                </a:solidFill>
                <a:latin typeface="Calibri"/>
              </a:rPr>
              <a:t>Primary recommendation</a:t>
            </a:r>
          </a:p>
        </p:txBody>
      </p:sp>
      <p:sp>
        <p:nvSpPr>
          <p:cNvPr id="11" name="Rounded Rectangle 10"/>
          <p:cNvSpPr/>
          <p:nvPr/>
        </p:nvSpPr>
        <p:spPr>
          <a:xfrm>
            <a:off x="4297679" y="1783080"/>
            <a:ext cx="3520440" cy="4206240"/>
          </a:xfrm>
          <a:prstGeom prst="roundRect">
            <a:avLst>
              <a:gd name="adj" fmla="val 6000"/>
            </a:avLst>
          </a:prstGeom>
          <a:solidFill>
            <a:srgbClr val="22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1999" y="2057400"/>
            <a:ext cx="685800" cy="6858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02</a:t>
            </a:r>
          </a:p>
        </p:txBody>
      </p:sp>
      <p:sp>
        <p:nvSpPr>
          <p:cNvPr id="13" name="TextBox 12"/>
          <p:cNvSpPr txBox="1"/>
          <p:nvPr/>
        </p:nvSpPr>
        <p:spPr>
          <a:xfrm>
            <a:off x="5440679" y="2194560"/>
            <a:ext cx="2194560" cy="365760"/>
          </a:xfrm>
          <a:prstGeom prst="rect">
            <a:avLst/>
          </a:prstGeom>
          <a:noFill/>
        </p:spPr>
        <p:txBody>
          <a:bodyPr wrap="square" lIns="0" rIns="0" tIns="0" bIns="0" anchor="t">
            <a:spAutoFit/>
          </a:bodyPr>
          <a:lstStyle/>
          <a:p>
            <a:pPr algn="l">
              <a:spcAft>
                <a:spcPts val="600"/>
              </a:spcAft>
            </a:pPr>
            <a:r>
              <a:rPr sz="1300" b="1" i="0">
                <a:solidFill>
                  <a:srgbClr val="C9D4E8"/>
                </a:solidFill>
                <a:latin typeface="Calibri"/>
              </a:rPr>
              <a:t>SATELLITE</a:t>
            </a:r>
          </a:p>
        </p:txBody>
      </p:sp>
      <p:sp>
        <p:nvSpPr>
          <p:cNvPr id="14" name="TextBox 13"/>
          <p:cNvSpPr txBox="1"/>
          <p:nvPr/>
        </p:nvSpPr>
        <p:spPr>
          <a:xfrm>
            <a:off x="4571999" y="2971800"/>
            <a:ext cx="3017520" cy="868680"/>
          </a:xfrm>
          <a:prstGeom prst="rect">
            <a:avLst/>
          </a:prstGeom>
          <a:noFill/>
        </p:spPr>
        <p:txBody>
          <a:bodyPr wrap="square" lIns="0" rIns="0" tIns="0" bIns="0" anchor="t">
            <a:spAutoFit/>
          </a:bodyPr>
          <a:lstStyle/>
          <a:p>
            <a:pPr algn="l">
              <a:spcAft>
                <a:spcPts val="600"/>
              </a:spcAft>
            </a:pPr>
            <a:r>
              <a:rPr sz="1900" b="1" i="0">
                <a:solidFill>
                  <a:srgbClr val="FFFFFF"/>
                </a:solidFill>
                <a:latin typeface="Cambria"/>
              </a:rPr>
              <a:t>Short yen, paused after intervention</a:t>
            </a:r>
          </a:p>
        </p:txBody>
      </p:sp>
      <p:sp>
        <p:nvSpPr>
          <p:cNvPr id="15" name="TextBox 14"/>
          <p:cNvSpPr txBox="1"/>
          <p:nvPr/>
        </p:nvSpPr>
        <p:spPr>
          <a:xfrm>
            <a:off x="4571999" y="3886200"/>
            <a:ext cx="3017520" cy="1371600"/>
          </a:xfrm>
          <a:prstGeom prst="rect">
            <a:avLst/>
          </a:prstGeom>
          <a:noFill/>
        </p:spPr>
        <p:txBody>
          <a:bodyPr wrap="square" lIns="0" rIns="0" tIns="0" bIns="0" anchor="t">
            <a:spAutoFit/>
          </a:bodyPr>
          <a:lstStyle/>
          <a:p>
            <a:pPr algn="l">
              <a:spcAft>
                <a:spcPts val="600"/>
              </a:spcAft>
            </a:pPr>
            <a:r>
              <a:rPr sz="1350" b="0" i="0">
                <a:solidFill>
                  <a:srgbClr val="C9D4E8"/>
                </a:solidFill>
                <a:latin typeface="Calibri"/>
              </a:rPr>
              <a:t>Short JPY while the US–Japan rate gap is above 2pp. Stand aside for 3 months after the MoF buys yen.</a:t>
            </a:r>
          </a:p>
        </p:txBody>
      </p:sp>
      <p:sp>
        <p:nvSpPr>
          <p:cNvPr id="16" name="TextBox 15"/>
          <p:cNvSpPr txBox="1"/>
          <p:nvPr/>
        </p:nvSpPr>
        <p:spPr>
          <a:xfrm>
            <a:off x="4571999" y="4983480"/>
            <a:ext cx="3017520" cy="365760"/>
          </a:xfrm>
          <a:prstGeom prst="rect">
            <a:avLst/>
          </a:prstGeom>
          <a:noFill/>
        </p:spPr>
        <p:txBody>
          <a:bodyPr wrap="square" lIns="0" rIns="0" tIns="0" bIns="0" anchor="t">
            <a:spAutoFit/>
          </a:bodyPr>
          <a:lstStyle/>
          <a:p>
            <a:pPr algn="l">
              <a:spcAft>
                <a:spcPts val="600"/>
              </a:spcAft>
            </a:pPr>
            <a:r>
              <a:rPr sz="1300" b="0" i="0">
                <a:solidFill>
                  <a:srgbClr val="C9D4E8"/>
                </a:solidFill>
                <a:latin typeface="Calibri"/>
              </a:rPr>
              <a:t>Sharpe 0.49 (always short 0.35)</a:t>
            </a:r>
          </a:p>
        </p:txBody>
      </p:sp>
      <p:sp>
        <p:nvSpPr>
          <p:cNvPr id="17" name="TextBox 16"/>
          <p:cNvSpPr txBox="1"/>
          <p:nvPr/>
        </p:nvSpPr>
        <p:spPr>
          <a:xfrm>
            <a:off x="4571999" y="5440680"/>
            <a:ext cx="3017520" cy="365760"/>
          </a:xfrm>
          <a:prstGeom prst="rect">
            <a:avLst/>
          </a:prstGeom>
          <a:noFill/>
        </p:spPr>
        <p:txBody>
          <a:bodyPr wrap="square" lIns="0" rIns="0" tIns="0" bIns="0" anchor="t">
            <a:spAutoFit/>
          </a:bodyPr>
          <a:lstStyle/>
          <a:p>
            <a:pPr algn="l">
              <a:spcAft>
                <a:spcPts val="600"/>
              </a:spcAft>
            </a:pPr>
            <a:r>
              <a:rPr sz="1300" b="1" i="0">
                <a:solidFill>
                  <a:srgbClr val="FFFFFF"/>
                </a:solidFill>
                <a:latin typeface="Calibri"/>
              </a:rPr>
              <a:t>Secondary · risk-managed</a:t>
            </a:r>
          </a:p>
        </p:txBody>
      </p:sp>
      <p:sp>
        <p:nvSpPr>
          <p:cNvPr id="18" name="Rounded Rectangle 17"/>
          <p:cNvSpPr/>
          <p:nvPr/>
        </p:nvSpPr>
        <p:spPr>
          <a:xfrm>
            <a:off x="8046719" y="1783080"/>
            <a:ext cx="3520440" cy="4206240"/>
          </a:xfrm>
          <a:prstGeom prst="roundRect">
            <a:avLst>
              <a:gd name="adj" fmla="val 6000"/>
            </a:avLst>
          </a:prstGeom>
          <a:solidFill>
            <a:srgbClr val="22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21040" y="2057400"/>
            <a:ext cx="685800" cy="6858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03</a:t>
            </a:r>
          </a:p>
        </p:txBody>
      </p:sp>
      <p:sp>
        <p:nvSpPr>
          <p:cNvPr id="20" name="TextBox 19"/>
          <p:cNvSpPr txBox="1"/>
          <p:nvPr/>
        </p:nvSpPr>
        <p:spPr>
          <a:xfrm>
            <a:off x="9189719" y="2194560"/>
            <a:ext cx="2194560" cy="365760"/>
          </a:xfrm>
          <a:prstGeom prst="rect">
            <a:avLst/>
          </a:prstGeom>
          <a:noFill/>
        </p:spPr>
        <p:txBody>
          <a:bodyPr wrap="square" lIns="0" rIns="0" tIns="0" bIns="0" anchor="t">
            <a:spAutoFit/>
          </a:bodyPr>
          <a:lstStyle/>
          <a:p>
            <a:pPr algn="l">
              <a:spcAft>
                <a:spcPts val="600"/>
              </a:spcAft>
            </a:pPr>
            <a:r>
              <a:rPr sz="1300" b="1" i="0">
                <a:solidFill>
                  <a:srgbClr val="C9D4E8"/>
                </a:solidFill>
                <a:latin typeface="Calibri"/>
              </a:rPr>
              <a:t>WATCH</a:t>
            </a:r>
          </a:p>
        </p:txBody>
      </p:sp>
      <p:sp>
        <p:nvSpPr>
          <p:cNvPr id="21" name="TextBox 20"/>
          <p:cNvSpPr txBox="1"/>
          <p:nvPr/>
        </p:nvSpPr>
        <p:spPr>
          <a:xfrm>
            <a:off x="8321040" y="2971800"/>
            <a:ext cx="3017520" cy="868680"/>
          </a:xfrm>
          <a:prstGeom prst="rect">
            <a:avLst/>
          </a:prstGeom>
          <a:noFill/>
        </p:spPr>
        <p:txBody>
          <a:bodyPr wrap="square" lIns="0" rIns="0" tIns="0" bIns="0" anchor="t">
            <a:spAutoFit/>
          </a:bodyPr>
          <a:lstStyle/>
          <a:p>
            <a:pPr algn="l">
              <a:spcAft>
                <a:spcPts val="600"/>
              </a:spcAft>
            </a:pPr>
            <a:r>
              <a:rPr sz="1900" b="1" i="0">
                <a:solidFill>
                  <a:srgbClr val="FFFFFF"/>
                </a:solidFill>
                <a:latin typeface="Cambria"/>
              </a:rPr>
              <a:t>Long rupee only while the RBI accumulates</a:t>
            </a:r>
          </a:p>
        </p:txBody>
      </p:sp>
      <p:sp>
        <p:nvSpPr>
          <p:cNvPr id="22" name="TextBox 21"/>
          <p:cNvSpPr txBox="1"/>
          <p:nvPr/>
        </p:nvSpPr>
        <p:spPr>
          <a:xfrm>
            <a:off x="8321040" y="3886200"/>
            <a:ext cx="3017520" cy="1371600"/>
          </a:xfrm>
          <a:prstGeom prst="rect">
            <a:avLst/>
          </a:prstGeom>
          <a:noFill/>
        </p:spPr>
        <p:txBody>
          <a:bodyPr wrap="square" lIns="0" rIns="0" tIns="0" bIns="0" anchor="t">
            <a:spAutoFit/>
          </a:bodyPr>
          <a:lstStyle/>
          <a:p>
            <a:pPr algn="l">
              <a:spcAft>
                <a:spcPts val="600"/>
              </a:spcAft>
            </a:pPr>
            <a:r>
              <a:rPr sz="1350" b="0" i="0">
                <a:solidFill>
                  <a:srgbClr val="C9D4E8"/>
                </a:solidFill>
                <a:latin typeface="Calibri"/>
              </a:rPr>
              <a:t>Long INR only if RBI reserves rose over the last 3 months. A stress gauge more than a trade.</a:t>
            </a:r>
          </a:p>
        </p:txBody>
      </p:sp>
      <p:sp>
        <p:nvSpPr>
          <p:cNvPr id="23" name="TextBox 22"/>
          <p:cNvSpPr txBox="1"/>
          <p:nvPr/>
        </p:nvSpPr>
        <p:spPr>
          <a:xfrm>
            <a:off x="8321040" y="4983480"/>
            <a:ext cx="3017520" cy="365760"/>
          </a:xfrm>
          <a:prstGeom prst="rect">
            <a:avLst/>
          </a:prstGeom>
          <a:noFill/>
        </p:spPr>
        <p:txBody>
          <a:bodyPr wrap="square" lIns="0" rIns="0" tIns="0" bIns="0" anchor="t">
            <a:spAutoFit/>
          </a:bodyPr>
          <a:lstStyle/>
          <a:p>
            <a:pPr algn="l">
              <a:spcAft>
                <a:spcPts val="600"/>
              </a:spcAft>
            </a:pPr>
            <a:r>
              <a:rPr sz="1300" b="0" i="0">
                <a:solidFill>
                  <a:srgbClr val="C9D4E8"/>
                </a:solidFill>
                <a:latin typeface="Calibri"/>
              </a:rPr>
              <a:t>Sharpe 0.30 (always long 0.16)</a:t>
            </a:r>
          </a:p>
        </p:txBody>
      </p:sp>
      <p:sp>
        <p:nvSpPr>
          <p:cNvPr id="24" name="TextBox 23"/>
          <p:cNvSpPr txBox="1"/>
          <p:nvPr/>
        </p:nvSpPr>
        <p:spPr>
          <a:xfrm>
            <a:off x="8321040" y="5440680"/>
            <a:ext cx="3017520" cy="365760"/>
          </a:xfrm>
          <a:prstGeom prst="rect">
            <a:avLst/>
          </a:prstGeom>
          <a:noFill/>
        </p:spPr>
        <p:txBody>
          <a:bodyPr wrap="square" lIns="0" rIns="0" tIns="0" bIns="0" anchor="t">
            <a:spAutoFit/>
          </a:bodyPr>
          <a:lstStyle/>
          <a:p>
            <a:pPr algn="l">
              <a:spcAft>
                <a:spcPts val="600"/>
              </a:spcAft>
            </a:pPr>
            <a:r>
              <a:rPr sz="1300" b="1" i="0">
                <a:solidFill>
                  <a:srgbClr val="FFFFFF"/>
                </a:solidFill>
                <a:latin typeface="Calibri"/>
              </a:rPr>
              <a:t>Monitor, not a trade</a:t>
            </a:r>
          </a:p>
        </p:txBody>
      </p:sp>
      <p:sp>
        <p:nvSpPr>
          <p:cNvPr id="25" name="TextBox 24"/>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C9D4E8"/>
                </a:solidFill>
                <a:latin typeface="Calibri"/>
              </a:rPr>
              <a:t>Source: research.ipynb ⭐ Final proposal</a:t>
            </a:r>
          </a:p>
        </p:txBody>
      </p:sp>
      <p:sp>
        <p:nvSpPr>
          <p:cNvPr id="26" name="TextBox 25"/>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C9D4E8"/>
                </a:solidFill>
                <a:latin typeface="Calibri"/>
              </a:rPr>
              <a:t>EXAMPLE DECK · numbers from forex-drift-idea/research.ipynb (data through 25 Sep 2026)</a:t>
            </a:r>
          </a:p>
        </p:txBody>
      </p:sp>
      <p:sp>
        <p:nvSpPr>
          <p:cNvPr id="27" name="TextBox 26"/>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C9D4E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2A78D6"/>
                </a:solidFill>
                <a:latin typeface="Calibri"/>
              </a:rPr>
              <a:t>BACKTEST</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27 years, net of costs, no hindsight in the signals</a:t>
            </a:r>
          </a:p>
        </p:txBody>
      </p:sp>
      <p:pic>
        <p:nvPicPr>
          <p:cNvPr id="4" name="Picture 3" descr="00_final_proposal_backtests.png"/>
          <p:cNvPicPr>
            <a:picLocks noChangeAspect="1"/>
          </p:cNvPicPr>
          <p:nvPr/>
        </p:nvPicPr>
        <p:blipFill>
          <a:blip r:embed="rId2"/>
          <a:stretch>
            <a:fillRect/>
          </a:stretch>
        </p:blipFill>
        <p:spPr>
          <a:xfrm>
            <a:off x="548640" y="1567647"/>
            <a:ext cx="7223760" cy="4545664"/>
          </a:xfrm>
          <a:prstGeom prst="rect">
            <a:avLst/>
          </a:prstGeom>
        </p:spPr>
      </p:pic>
      <p:sp>
        <p:nvSpPr>
          <p:cNvPr id="5" name="Rounded Rectangle 4"/>
          <p:cNvSpPr/>
          <p:nvPr/>
        </p:nvSpPr>
        <p:spPr>
          <a:xfrm>
            <a:off x="8138160" y="1600200"/>
            <a:ext cx="352044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66760" y="1728216"/>
            <a:ext cx="3063240" cy="640080"/>
          </a:xfrm>
          <a:prstGeom prst="rect">
            <a:avLst/>
          </a:prstGeom>
          <a:noFill/>
        </p:spPr>
        <p:txBody>
          <a:bodyPr wrap="square" lIns="0" rIns="0" tIns="0" bIns="0" anchor="t">
            <a:spAutoFit/>
          </a:bodyPr>
          <a:lstStyle/>
          <a:p>
            <a:pPr algn="l">
              <a:spcAft>
                <a:spcPts val="600"/>
              </a:spcAft>
            </a:pPr>
            <a:r>
              <a:rPr sz="3200" b="1" i="0">
                <a:solidFill>
                  <a:srgbClr val="14213D"/>
                </a:solidFill>
                <a:latin typeface="Cambria"/>
              </a:rPr>
              <a:t>0.73</a:t>
            </a:r>
          </a:p>
        </p:txBody>
      </p:sp>
      <p:sp>
        <p:nvSpPr>
          <p:cNvPr id="7" name="TextBox 6"/>
          <p:cNvSpPr txBox="1"/>
          <p:nvPr/>
        </p:nvSpPr>
        <p:spPr>
          <a:xfrm>
            <a:off x="8366760" y="2350008"/>
            <a:ext cx="3063240" cy="502919"/>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Core Sharpe ratio vs 0.44 for plain carry</a:t>
            </a:r>
          </a:p>
        </p:txBody>
      </p:sp>
      <p:sp>
        <p:nvSpPr>
          <p:cNvPr id="8" name="Rounded Rectangle 7"/>
          <p:cNvSpPr/>
          <p:nvPr/>
        </p:nvSpPr>
        <p:spPr>
          <a:xfrm>
            <a:off x="8138160" y="3081528"/>
            <a:ext cx="352044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3209544"/>
            <a:ext cx="3063240" cy="640080"/>
          </a:xfrm>
          <a:prstGeom prst="rect">
            <a:avLst/>
          </a:prstGeom>
          <a:noFill/>
        </p:spPr>
        <p:txBody>
          <a:bodyPr wrap="square" lIns="0" rIns="0" tIns="0" bIns="0" anchor="t">
            <a:spAutoFit/>
          </a:bodyPr>
          <a:lstStyle/>
          <a:p>
            <a:pPr algn="l">
              <a:spcAft>
                <a:spcPts val="600"/>
              </a:spcAft>
            </a:pPr>
            <a:r>
              <a:rPr sz="3200" b="1" i="0">
                <a:solidFill>
                  <a:srgbClr val="1B8F5F"/>
                </a:solidFill>
                <a:latin typeface="Cambria"/>
              </a:rPr>
              <a:t>−10%</a:t>
            </a:r>
          </a:p>
        </p:txBody>
      </p:sp>
      <p:sp>
        <p:nvSpPr>
          <p:cNvPr id="10" name="TextBox 9"/>
          <p:cNvSpPr txBox="1"/>
          <p:nvPr/>
        </p:nvSpPr>
        <p:spPr>
          <a:xfrm>
            <a:off x="8366760" y="3831336"/>
            <a:ext cx="3063240" cy="502919"/>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Core worst drawdown vs −18% for plain carry</a:t>
            </a:r>
          </a:p>
        </p:txBody>
      </p:sp>
      <p:sp>
        <p:nvSpPr>
          <p:cNvPr id="11" name="Rounded Rectangle 10"/>
          <p:cNvSpPr/>
          <p:nvPr/>
        </p:nvSpPr>
        <p:spPr>
          <a:xfrm>
            <a:off x="8138160" y="4562856"/>
            <a:ext cx="352044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4690872"/>
            <a:ext cx="3063240" cy="640080"/>
          </a:xfrm>
          <a:prstGeom prst="rect">
            <a:avLst/>
          </a:prstGeom>
          <a:noFill/>
        </p:spPr>
        <p:txBody>
          <a:bodyPr wrap="square" lIns="0" rIns="0" tIns="0" bIns="0" anchor="t">
            <a:spAutoFit/>
          </a:bodyPr>
          <a:lstStyle/>
          <a:p>
            <a:pPr algn="l">
              <a:spcAft>
                <a:spcPts val="600"/>
              </a:spcAft>
            </a:pPr>
            <a:r>
              <a:rPr sz="2800" b="1" i="0">
                <a:solidFill>
                  <a:srgbClr val="2A78D6"/>
                </a:solidFill>
                <a:latin typeface="Cambria"/>
              </a:rPr>
              <a:t>0.79 → 0.68</a:t>
            </a:r>
          </a:p>
        </p:txBody>
      </p:sp>
      <p:sp>
        <p:nvSpPr>
          <p:cNvPr id="13" name="TextBox 12"/>
          <p:cNvSpPr txBox="1"/>
          <p:nvPr/>
        </p:nvSpPr>
        <p:spPr>
          <a:xfrm>
            <a:off x="8366760" y="5312664"/>
            <a:ext cx="3063240" cy="502919"/>
          </a:xfrm>
          <a:prstGeom prst="rect">
            <a:avLst/>
          </a:prstGeom>
          <a:noFill/>
        </p:spPr>
        <p:txBody>
          <a:bodyPr wrap="square" lIns="0" rIns="0" tIns="0" bIns="0" anchor="t">
            <a:spAutoFit/>
          </a:bodyPr>
          <a:lstStyle/>
          <a:p>
            <a:pPr algn="l">
              <a:spcAft>
                <a:spcPts val="600"/>
              </a:spcAft>
            </a:pPr>
            <a:r>
              <a:rPr sz="1300" b="0" i="0">
                <a:solidFill>
                  <a:srgbClr val="374151"/>
                </a:solidFill>
                <a:latin typeface="Calibri"/>
              </a:rPr>
              <a:t>Sharpe in 2000–12 vs 2013–26: stable across both halves</a:t>
            </a:r>
          </a:p>
        </p:txBody>
      </p:sp>
      <p:sp>
        <p:nvSpPr>
          <p:cNvPr id="14" name="TextBox 13"/>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Monthly Jan 2000–Sep 2026; costs 4bp G10 / 12bp EM + forward roll; research.ipynb ⭐ Final proposal</a:t>
            </a:r>
          </a:p>
        </p:txBody>
      </p:sp>
      <p:sp>
        <p:nvSpPr>
          <p:cNvPr id="15" name="TextBox 14"/>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16" name="TextBox 15"/>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2A78D6"/>
                </a:solidFill>
                <a:latin typeface="Calibri"/>
              </a:rPr>
              <a:t>RESULTS</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The rules win on risk, not on raw return</a:t>
            </a:r>
          </a:p>
        </p:txBody>
      </p:sp>
      <p:graphicFrame>
        <p:nvGraphicFramePr>
          <p:cNvPr id="4" name="Table 3"/>
          <p:cNvGraphicFramePr>
            <a:graphicFrameLocks noGrp="1"/>
          </p:cNvGraphicFramePr>
          <p:nvPr/>
        </p:nvGraphicFramePr>
        <p:xfrm>
          <a:off x="548640" y="1645920"/>
          <a:ext cx="11064234" cy="3383280"/>
        </p:xfrm>
        <a:graphic>
          <a:graphicData uri="http://schemas.openxmlformats.org/drawingml/2006/table">
            <a:tbl>
              <a:tblPr firstRow="1" bandRow="1">
                <a:tableStyleId>{5C22544A-7EE6-4342-B048-85BDC9FD1C3A}</a:tableStyleId>
              </a:tblPr>
              <a:tblGrid>
                <a:gridCol w="3657600"/>
                <a:gridCol w="1234439"/>
                <a:gridCol w="1234439"/>
                <a:gridCol w="1234439"/>
                <a:gridCol w="1234439"/>
                <a:gridCol w="1234439"/>
                <a:gridCol w="1234439"/>
              </a:tblGrid>
              <a:tr h="422910">
                <a:tc>
                  <a:txBody>
                    <a:bodyPr/>
                    <a:lstStyle/>
                    <a:p>
                      <a:pPr algn="l"/>
                      <a:r>
                        <a:rPr sz="1300" b="1" i="0">
                          <a:solidFill>
                            <a:srgbClr val="FFFFFF"/>
                          </a:solidFill>
                          <a:latin typeface="Calibri"/>
                        </a:rPr>
                        <a:t>Trade</a:t>
                      </a:r>
                    </a:p>
                  </a:txBody>
                  <a:tcPr marL="91440" marR="91440" anchor="ctr">
                    <a:solidFill>
                      <a:srgbClr val="14213D"/>
                    </a:solidFill>
                  </a:tcPr>
                </a:tc>
                <a:tc>
                  <a:txBody>
                    <a:bodyPr/>
                    <a:lstStyle/>
                    <a:p>
                      <a:pPr algn="ctr"/>
                      <a:r>
                        <a:rPr sz="1300" b="1" i="0">
                          <a:solidFill>
                            <a:srgbClr val="FFFFFF"/>
                          </a:solidFill>
                          <a:latin typeface="Calibri"/>
                        </a:rPr>
                        <a:t>Return %/yr</a:t>
                      </a:r>
                    </a:p>
                  </a:txBody>
                  <a:tcPr marL="91440" marR="91440" anchor="ctr">
                    <a:solidFill>
                      <a:srgbClr val="14213D"/>
                    </a:solidFill>
                  </a:tcPr>
                </a:tc>
                <a:tc>
                  <a:txBody>
                    <a:bodyPr/>
                    <a:lstStyle/>
                    <a:p>
                      <a:pPr algn="ctr"/>
                      <a:r>
                        <a:rPr sz="1300" b="1" i="0">
                          <a:solidFill>
                            <a:srgbClr val="FFFFFF"/>
                          </a:solidFill>
                          <a:latin typeface="Calibri"/>
                        </a:rPr>
                        <a:t>Volatility %</a:t>
                      </a:r>
                    </a:p>
                  </a:txBody>
                  <a:tcPr marL="91440" marR="91440" anchor="ctr">
                    <a:solidFill>
                      <a:srgbClr val="14213D"/>
                    </a:solidFill>
                  </a:tcPr>
                </a:tc>
                <a:tc>
                  <a:txBody>
                    <a:bodyPr/>
                    <a:lstStyle/>
                    <a:p>
                      <a:pPr algn="ctr"/>
                      <a:r>
                        <a:rPr sz="1300" b="1" i="0">
                          <a:solidFill>
                            <a:srgbClr val="FFFFFF"/>
                          </a:solidFill>
                          <a:latin typeface="Calibri"/>
                        </a:rPr>
                        <a:t>Sharpe</a:t>
                      </a:r>
                    </a:p>
                  </a:txBody>
                  <a:tcPr marL="91440" marR="91440" anchor="ctr">
                    <a:solidFill>
                      <a:srgbClr val="14213D"/>
                    </a:solidFill>
                  </a:tcPr>
                </a:tc>
                <a:tc>
                  <a:txBody>
                    <a:bodyPr/>
                    <a:lstStyle/>
                    <a:p>
                      <a:pPr algn="ctr"/>
                      <a:r>
                        <a:rPr sz="1300" b="1" i="0">
                          <a:solidFill>
                            <a:srgbClr val="FFFFFF"/>
                          </a:solidFill>
                          <a:latin typeface="Calibri"/>
                        </a:rPr>
                        <a:t>Worst drawdown</a:t>
                      </a:r>
                    </a:p>
                  </a:txBody>
                  <a:tcPr marL="91440" marR="91440" anchor="ctr">
                    <a:solidFill>
                      <a:srgbClr val="14213D"/>
                    </a:solidFill>
                  </a:tcPr>
                </a:tc>
                <a:tc>
                  <a:txBody>
                    <a:bodyPr/>
                    <a:lstStyle/>
                    <a:p>
                      <a:pPr algn="ctr"/>
                      <a:r>
                        <a:rPr sz="1300" b="1" i="0">
                          <a:solidFill>
                            <a:srgbClr val="FFFFFF"/>
                          </a:solidFill>
                          <a:latin typeface="Calibri"/>
                        </a:rPr>
                        <a:t>Sharpe 2000–12</a:t>
                      </a:r>
                    </a:p>
                  </a:txBody>
                  <a:tcPr marL="91440" marR="91440" anchor="ctr">
                    <a:solidFill>
                      <a:srgbClr val="14213D"/>
                    </a:solidFill>
                  </a:tcPr>
                </a:tc>
                <a:tc>
                  <a:txBody>
                    <a:bodyPr/>
                    <a:lstStyle/>
                    <a:p>
                      <a:pPr algn="ctr"/>
                      <a:r>
                        <a:rPr sz="1300" b="1" i="0">
                          <a:solidFill>
                            <a:srgbClr val="FFFFFF"/>
                          </a:solidFill>
                          <a:latin typeface="Calibri"/>
                        </a:rPr>
                        <a:t>Sharpe 2013–26</a:t>
                      </a:r>
                    </a:p>
                  </a:txBody>
                  <a:tcPr marL="91440" marR="91440" anchor="ctr">
                    <a:solidFill>
                      <a:srgbClr val="14213D"/>
                    </a:solidFill>
                  </a:tcPr>
                </a:tc>
              </a:tr>
              <a:tr h="422910">
                <a:tc>
                  <a:txBody>
                    <a:bodyPr/>
                    <a:lstStyle/>
                    <a:p>
                      <a:pPr algn="l"/>
                      <a:r>
                        <a:rPr sz="1300" b="1" i="0">
                          <a:solidFill>
                            <a:srgbClr val="1F2937"/>
                          </a:solidFill>
                          <a:latin typeface="Calibri"/>
                        </a:rPr>
                        <a:t>1. Core: carry + trade basket</a:t>
                      </a:r>
                    </a:p>
                  </a:txBody>
                  <a:tcPr marL="91440" marR="91440" anchor="ctr">
                    <a:solidFill>
                      <a:srgbClr val="F1F3F6"/>
                    </a:solidFill>
                  </a:tcPr>
                </a:tc>
                <a:tc>
                  <a:txBody>
                    <a:bodyPr/>
                    <a:lstStyle/>
                    <a:p>
                      <a:pPr algn="ctr"/>
                      <a:r>
                        <a:rPr sz="1300" b="0" i="0">
                          <a:solidFill>
                            <a:srgbClr val="1F2937"/>
                          </a:solidFill>
                          <a:latin typeface="Calibri"/>
                        </a:rPr>
                        <a:t>2.9</a:t>
                      </a:r>
                    </a:p>
                  </a:txBody>
                  <a:tcPr marL="91440" marR="91440" anchor="ctr">
                    <a:solidFill>
                      <a:srgbClr val="F1F3F6"/>
                    </a:solidFill>
                  </a:tcPr>
                </a:tc>
                <a:tc>
                  <a:txBody>
                    <a:bodyPr/>
                    <a:lstStyle/>
                    <a:p>
                      <a:pPr algn="ctr"/>
                      <a:r>
                        <a:rPr sz="1300" b="0" i="0">
                          <a:solidFill>
                            <a:srgbClr val="1F2937"/>
                          </a:solidFill>
                          <a:latin typeface="Calibri"/>
                        </a:rPr>
                        <a:t>4.0</a:t>
                      </a:r>
                    </a:p>
                  </a:txBody>
                  <a:tcPr marL="91440" marR="91440" anchor="ctr">
                    <a:solidFill>
                      <a:srgbClr val="F1F3F6"/>
                    </a:solidFill>
                  </a:tcPr>
                </a:tc>
                <a:tc>
                  <a:txBody>
                    <a:bodyPr/>
                    <a:lstStyle/>
                    <a:p>
                      <a:pPr algn="ctr"/>
                      <a:r>
                        <a:rPr sz="1300" b="1" i="0">
                          <a:solidFill>
                            <a:srgbClr val="1F2937"/>
                          </a:solidFill>
                          <a:latin typeface="Calibri"/>
                        </a:rPr>
                        <a:t>0.73</a:t>
                      </a:r>
                    </a:p>
                  </a:txBody>
                  <a:tcPr marL="91440" marR="91440" anchor="ctr">
                    <a:solidFill>
                      <a:srgbClr val="F1F3F6"/>
                    </a:solidFill>
                  </a:tcPr>
                </a:tc>
                <a:tc>
                  <a:txBody>
                    <a:bodyPr/>
                    <a:lstStyle/>
                    <a:p>
                      <a:pPr algn="ctr"/>
                      <a:r>
                        <a:rPr sz="1300" b="0" i="0">
                          <a:solidFill>
                            <a:srgbClr val="1F2937"/>
                          </a:solidFill>
                          <a:latin typeface="Calibri"/>
                        </a:rPr>
                        <a:t>−10%</a:t>
                      </a:r>
                    </a:p>
                  </a:txBody>
                  <a:tcPr marL="91440" marR="91440" anchor="ctr">
                    <a:solidFill>
                      <a:srgbClr val="F1F3F6"/>
                    </a:solidFill>
                  </a:tcPr>
                </a:tc>
                <a:tc>
                  <a:txBody>
                    <a:bodyPr/>
                    <a:lstStyle/>
                    <a:p>
                      <a:pPr algn="ctr"/>
                      <a:r>
                        <a:rPr sz="1300" b="0" i="0">
                          <a:solidFill>
                            <a:srgbClr val="1F2937"/>
                          </a:solidFill>
                          <a:latin typeface="Calibri"/>
                        </a:rPr>
                        <a:t>0.79</a:t>
                      </a:r>
                    </a:p>
                  </a:txBody>
                  <a:tcPr marL="91440" marR="91440" anchor="ctr">
                    <a:solidFill>
                      <a:srgbClr val="F1F3F6"/>
                    </a:solidFill>
                  </a:tcPr>
                </a:tc>
                <a:tc>
                  <a:txBody>
                    <a:bodyPr/>
                    <a:lstStyle/>
                    <a:p>
                      <a:pPr algn="ctr"/>
                      <a:r>
                        <a:rPr sz="1300" b="0" i="0">
                          <a:solidFill>
                            <a:srgbClr val="1F2937"/>
                          </a:solidFill>
                          <a:latin typeface="Calibri"/>
                        </a:rPr>
                        <a:t>0.68</a:t>
                      </a:r>
                    </a:p>
                  </a:txBody>
                  <a:tcPr marL="91440" marR="91440" anchor="ctr">
                    <a:solidFill>
                      <a:srgbClr val="F1F3F6"/>
                    </a:solidFill>
                  </a:tcPr>
                </a:tc>
              </a:tr>
              <a:tr h="422910">
                <a:tc>
                  <a:txBody>
                    <a:bodyPr/>
                    <a:lstStyle/>
                    <a:p>
                      <a:pPr algn="l"/>
                      <a:r>
                        <a:rPr sz="1300" b="0" i="1">
                          <a:solidFill>
                            <a:srgbClr val="6B7280"/>
                          </a:solidFill>
                          <a:latin typeface="Calibri"/>
                        </a:rPr>
                        <a:t>benchmark: carry only</a:t>
                      </a:r>
                    </a:p>
                  </a:txBody>
                  <a:tcPr marL="91440" marR="91440" anchor="ctr">
                    <a:solidFill>
                      <a:srgbClr val="FFFFFF"/>
                    </a:solidFill>
                  </a:tcPr>
                </a:tc>
                <a:tc>
                  <a:txBody>
                    <a:bodyPr/>
                    <a:lstStyle/>
                    <a:p>
                      <a:pPr algn="ctr"/>
                      <a:r>
                        <a:rPr sz="1300" b="0" i="1">
                          <a:solidFill>
                            <a:srgbClr val="6B7280"/>
                          </a:solidFill>
                          <a:latin typeface="Calibri"/>
                        </a:rPr>
                        <a:t>3.4</a:t>
                      </a:r>
                    </a:p>
                  </a:txBody>
                  <a:tcPr marL="91440" marR="91440" anchor="ctr">
                    <a:solidFill>
                      <a:srgbClr val="FFFFFF"/>
                    </a:solidFill>
                  </a:tcPr>
                </a:tc>
                <a:tc>
                  <a:txBody>
                    <a:bodyPr/>
                    <a:lstStyle/>
                    <a:p>
                      <a:pPr algn="ctr"/>
                      <a:r>
                        <a:rPr sz="1300" b="0" i="1">
                          <a:solidFill>
                            <a:srgbClr val="6B7280"/>
                          </a:solidFill>
                          <a:latin typeface="Calibri"/>
                        </a:rPr>
                        <a:t>7.7</a:t>
                      </a:r>
                    </a:p>
                  </a:txBody>
                  <a:tcPr marL="91440" marR="91440" anchor="ctr">
                    <a:solidFill>
                      <a:srgbClr val="FFFFFF"/>
                    </a:solidFill>
                  </a:tcPr>
                </a:tc>
                <a:tc>
                  <a:txBody>
                    <a:bodyPr/>
                    <a:lstStyle/>
                    <a:p>
                      <a:pPr algn="ctr"/>
                      <a:r>
                        <a:rPr sz="1300" b="0" i="1">
                          <a:solidFill>
                            <a:srgbClr val="6B7280"/>
                          </a:solidFill>
                          <a:latin typeface="Calibri"/>
                        </a:rPr>
                        <a:t>0.44</a:t>
                      </a:r>
                    </a:p>
                  </a:txBody>
                  <a:tcPr marL="91440" marR="91440" anchor="ctr">
                    <a:solidFill>
                      <a:srgbClr val="FFFFFF"/>
                    </a:solidFill>
                  </a:tcPr>
                </a:tc>
                <a:tc>
                  <a:txBody>
                    <a:bodyPr/>
                    <a:lstStyle/>
                    <a:p>
                      <a:pPr algn="ctr"/>
                      <a:r>
                        <a:rPr sz="1300" b="0" i="1">
                          <a:solidFill>
                            <a:srgbClr val="6B7280"/>
                          </a:solidFill>
                          <a:latin typeface="Calibri"/>
                        </a:rPr>
                        <a:t>−18%</a:t>
                      </a:r>
                    </a:p>
                  </a:txBody>
                  <a:tcPr marL="91440" marR="91440" anchor="ctr">
                    <a:solidFill>
                      <a:srgbClr val="FFFFFF"/>
                    </a:solidFill>
                  </a:tcPr>
                </a:tc>
                <a:tc>
                  <a:txBody>
                    <a:bodyPr/>
                    <a:lstStyle/>
                    <a:p>
                      <a:pPr algn="ctr"/>
                      <a:r>
                        <a:rPr sz="1300" b="0" i="1">
                          <a:solidFill>
                            <a:srgbClr val="6B7280"/>
                          </a:solidFill>
                          <a:latin typeface="Calibri"/>
                        </a:rPr>
                        <a:t>0.53</a:t>
                      </a:r>
                    </a:p>
                  </a:txBody>
                  <a:tcPr marL="91440" marR="91440" anchor="ctr">
                    <a:solidFill>
                      <a:srgbClr val="FFFFFF"/>
                    </a:solidFill>
                  </a:tcPr>
                </a:tc>
                <a:tc>
                  <a:txBody>
                    <a:bodyPr/>
                    <a:lstStyle/>
                    <a:p>
                      <a:pPr algn="ctr"/>
                      <a:r>
                        <a:rPr sz="1300" b="0" i="1">
                          <a:solidFill>
                            <a:srgbClr val="6B7280"/>
                          </a:solidFill>
                          <a:latin typeface="Calibri"/>
                        </a:rPr>
                        <a:t>0.34</a:t>
                      </a:r>
                    </a:p>
                  </a:txBody>
                  <a:tcPr marL="91440" marR="91440" anchor="ctr">
                    <a:solidFill>
                      <a:srgbClr val="FFFFFF"/>
                    </a:solidFill>
                  </a:tcPr>
                </a:tc>
              </a:tr>
              <a:tr h="422910">
                <a:tc>
                  <a:txBody>
                    <a:bodyPr/>
                    <a:lstStyle/>
                    <a:p>
                      <a:pPr algn="l"/>
                      <a:r>
                        <a:rPr sz="1300" b="1" i="0">
                          <a:solidFill>
                            <a:srgbClr val="1F2937"/>
                          </a:solidFill>
                          <a:latin typeface="Calibri"/>
                        </a:rPr>
                        <a:t>1b. Core, G10-only (retail)</a:t>
                      </a:r>
                    </a:p>
                  </a:txBody>
                  <a:tcPr marL="91440" marR="91440" anchor="ctr">
                    <a:solidFill>
                      <a:srgbClr val="F1F3F6"/>
                    </a:solidFill>
                  </a:tcPr>
                </a:tc>
                <a:tc>
                  <a:txBody>
                    <a:bodyPr/>
                    <a:lstStyle/>
                    <a:p>
                      <a:pPr algn="ctr"/>
                      <a:r>
                        <a:rPr sz="1300" b="0" i="0">
                          <a:solidFill>
                            <a:srgbClr val="1F2937"/>
                          </a:solidFill>
                          <a:latin typeface="Calibri"/>
                        </a:rPr>
                        <a:t>1.7</a:t>
                      </a:r>
                    </a:p>
                  </a:txBody>
                  <a:tcPr marL="91440" marR="91440" anchor="ctr">
                    <a:solidFill>
                      <a:srgbClr val="F1F3F6"/>
                    </a:solidFill>
                  </a:tcPr>
                </a:tc>
                <a:tc>
                  <a:txBody>
                    <a:bodyPr/>
                    <a:lstStyle/>
                    <a:p>
                      <a:pPr algn="ctr"/>
                      <a:r>
                        <a:rPr sz="1300" b="0" i="0">
                          <a:solidFill>
                            <a:srgbClr val="1F2937"/>
                          </a:solidFill>
                          <a:latin typeface="Calibri"/>
                        </a:rPr>
                        <a:t>3.6</a:t>
                      </a:r>
                    </a:p>
                  </a:txBody>
                  <a:tcPr marL="91440" marR="91440" anchor="ctr">
                    <a:solidFill>
                      <a:srgbClr val="F1F3F6"/>
                    </a:solidFill>
                  </a:tcPr>
                </a:tc>
                <a:tc>
                  <a:txBody>
                    <a:bodyPr/>
                    <a:lstStyle/>
                    <a:p>
                      <a:pPr algn="ctr"/>
                      <a:r>
                        <a:rPr sz="1300" b="1" i="0">
                          <a:solidFill>
                            <a:srgbClr val="1F2937"/>
                          </a:solidFill>
                          <a:latin typeface="Calibri"/>
                        </a:rPr>
                        <a:t>0.47</a:t>
                      </a:r>
                    </a:p>
                  </a:txBody>
                  <a:tcPr marL="91440" marR="91440" anchor="ctr">
                    <a:solidFill>
                      <a:srgbClr val="F1F3F6"/>
                    </a:solidFill>
                  </a:tcPr>
                </a:tc>
                <a:tc>
                  <a:txBody>
                    <a:bodyPr/>
                    <a:lstStyle/>
                    <a:p>
                      <a:pPr algn="ctr"/>
                      <a:r>
                        <a:rPr sz="1300" b="0" i="0">
                          <a:solidFill>
                            <a:srgbClr val="1F2937"/>
                          </a:solidFill>
                          <a:latin typeface="Calibri"/>
                        </a:rPr>
                        <a:t>−9%</a:t>
                      </a:r>
                    </a:p>
                  </a:txBody>
                  <a:tcPr marL="91440" marR="91440" anchor="ctr">
                    <a:solidFill>
                      <a:srgbClr val="F1F3F6"/>
                    </a:solidFill>
                  </a:tcPr>
                </a:tc>
                <a:tc>
                  <a:txBody>
                    <a:bodyPr/>
                    <a:lstStyle/>
                    <a:p>
                      <a:pPr algn="ctr"/>
                      <a:r>
                        <a:rPr sz="1300" b="0" i="0">
                          <a:solidFill>
                            <a:srgbClr val="1F2937"/>
                          </a:solidFill>
                          <a:latin typeface="Calibri"/>
                        </a:rPr>
                        <a:t>0.63</a:t>
                      </a:r>
                    </a:p>
                  </a:txBody>
                  <a:tcPr marL="91440" marR="91440" anchor="ctr">
                    <a:solidFill>
                      <a:srgbClr val="F1F3F6"/>
                    </a:solidFill>
                  </a:tcPr>
                </a:tc>
                <a:tc>
                  <a:txBody>
                    <a:bodyPr/>
                    <a:lstStyle/>
                    <a:p>
                      <a:pPr algn="ctr"/>
                      <a:r>
                        <a:rPr sz="1300" b="0" i="0">
                          <a:solidFill>
                            <a:srgbClr val="1F2937"/>
                          </a:solidFill>
                          <a:latin typeface="Calibri"/>
                        </a:rPr>
                        <a:t>0.31</a:t>
                      </a:r>
                    </a:p>
                  </a:txBody>
                  <a:tcPr marL="91440" marR="91440" anchor="ctr">
                    <a:solidFill>
                      <a:srgbClr val="F1F3F6"/>
                    </a:solidFill>
                  </a:tcPr>
                </a:tc>
              </a:tr>
              <a:tr h="422910">
                <a:tc>
                  <a:txBody>
                    <a:bodyPr/>
                    <a:lstStyle/>
                    <a:p>
                      <a:pPr algn="l"/>
                      <a:r>
                        <a:rPr sz="1300" b="1" i="0">
                          <a:solidFill>
                            <a:srgbClr val="1F2937"/>
                          </a:solidFill>
                          <a:latin typeface="Calibri"/>
                        </a:rPr>
                        <a:t>2. Short yen, intervention pause</a:t>
                      </a:r>
                    </a:p>
                  </a:txBody>
                  <a:tcPr marL="91440" marR="91440" anchor="ctr">
                    <a:solidFill>
                      <a:srgbClr val="F1F3F6"/>
                    </a:solidFill>
                  </a:tcPr>
                </a:tc>
                <a:tc>
                  <a:txBody>
                    <a:bodyPr/>
                    <a:lstStyle/>
                    <a:p>
                      <a:pPr algn="ctr"/>
                      <a:r>
                        <a:rPr sz="1300" b="0" i="0">
                          <a:solidFill>
                            <a:srgbClr val="1F2937"/>
                          </a:solidFill>
                          <a:latin typeface="Calibri"/>
                        </a:rPr>
                        <a:t>2.8</a:t>
                      </a:r>
                    </a:p>
                  </a:txBody>
                  <a:tcPr marL="91440" marR="91440" anchor="ctr">
                    <a:solidFill>
                      <a:srgbClr val="F1F3F6"/>
                    </a:solidFill>
                  </a:tcPr>
                </a:tc>
                <a:tc>
                  <a:txBody>
                    <a:bodyPr/>
                    <a:lstStyle/>
                    <a:p>
                      <a:pPr algn="ctr"/>
                      <a:r>
                        <a:rPr sz="1300" b="0" i="0">
                          <a:solidFill>
                            <a:srgbClr val="1F2937"/>
                          </a:solidFill>
                          <a:latin typeface="Calibri"/>
                        </a:rPr>
                        <a:t>5.8</a:t>
                      </a:r>
                    </a:p>
                  </a:txBody>
                  <a:tcPr marL="91440" marR="91440" anchor="ctr">
                    <a:solidFill>
                      <a:srgbClr val="F1F3F6"/>
                    </a:solidFill>
                  </a:tcPr>
                </a:tc>
                <a:tc>
                  <a:txBody>
                    <a:bodyPr/>
                    <a:lstStyle/>
                    <a:p>
                      <a:pPr algn="ctr"/>
                      <a:r>
                        <a:rPr sz="1300" b="1" i="0">
                          <a:solidFill>
                            <a:srgbClr val="1F2937"/>
                          </a:solidFill>
                          <a:latin typeface="Calibri"/>
                        </a:rPr>
                        <a:t>0.49</a:t>
                      </a:r>
                    </a:p>
                  </a:txBody>
                  <a:tcPr marL="91440" marR="91440" anchor="ctr">
                    <a:solidFill>
                      <a:srgbClr val="F1F3F6"/>
                    </a:solidFill>
                  </a:tcPr>
                </a:tc>
                <a:tc>
                  <a:txBody>
                    <a:bodyPr/>
                    <a:lstStyle/>
                    <a:p>
                      <a:pPr algn="ctr"/>
                      <a:r>
                        <a:rPr sz="1300" b="0" i="0">
                          <a:solidFill>
                            <a:srgbClr val="1F2937"/>
                          </a:solidFill>
                          <a:latin typeface="Calibri"/>
                        </a:rPr>
                        <a:t>−24%</a:t>
                      </a:r>
                    </a:p>
                  </a:txBody>
                  <a:tcPr marL="91440" marR="91440" anchor="ctr">
                    <a:solidFill>
                      <a:srgbClr val="F1F3F6"/>
                    </a:solidFill>
                  </a:tcPr>
                </a:tc>
                <a:tc>
                  <a:txBody>
                    <a:bodyPr/>
                    <a:lstStyle/>
                    <a:p>
                      <a:pPr algn="ctr"/>
                      <a:r>
                        <a:rPr sz="1300" b="0" i="0">
                          <a:solidFill>
                            <a:srgbClr val="1F2937"/>
                          </a:solidFill>
                          <a:latin typeface="Calibri"/>
                        </a:rPr>
                        <a:t>0.37</a:t>
                      </a:r>
                    </a:p>
                  </a:txBody>
                  <a:tcPr marL="91440" marR="91440" anchor="ctr">
                    <a:solidFill>
                      <a:srgbClr val="F1F3F6"/>
                    </a:solidFill>
                  </a:tcPr>
                </a:tc>
                <a:tc>
                  <a:txBody>
                    <a:bodyPr/>
                    <a:lstStyle/>
                    <a:p>
                      <a:pPr algn="ctr"/>
                      <a:r>
                        <a:rPr sz="1300" b="0" i="0">
                          <a:solidFill>
                            <a:srgbClr val="1F2937"/>
                          </a:solidFill>
                          <a:latin typeface="Calibri"/>
                        </a:rPr>
                        <a:t>0.64</a:t>
                      </a:r>
                    </a:p>
                  </a:txBody>
                  <a:tcPr marL="91440" marR="91440" anchor="ctr">
                    <a:solidFill>
                      <a:srgbClr val="F1F3F6"/>
                    </a:solidFill>
                  </a:tcPr>
                </a:tc>
              </a:tr>
              <a:tr h="422910">
                <a:tc>
                  <a:txBody>
                    <a:bodyPr/>
                    <a:lstStyle/>
                    <a:p>
                      <a:pPr algn="l"/>
                      <a:r>
                        <a:rPr sz="1300" b="0" i="1">
                          <a:solidFill>
                            <a:srgbClr val="6B7280"/>
                          </a:solidFill>
                          <a:latin typeface="Calibri"/>
                        </a:rPr>
                        <a:t>benchmark: always short yen</a:t>
                      </a:r>
                    </a:p>
                  </a:txBody>
                  <a:tcPr marL="91440" marR="91440" anchor="ctr">
                    <a:solidFill>
                      <a:srgbClr val="FFFFFF"/>
                    </a:solidFill>
                  </a:tcPr>
                </a:tc>
                <a:tc>
                  <a:txBody>
                    <a:bodyPr/>
                    <a:lstStyle/>
                    <a:p>
                      <a:pPr algn="ctr"/>
                      <a:r>
                        <a:rPr sz="1300" b="0" i="1">
                          <a:solidFill>
                            <a:srgbClr val="6B7280"/>
                          </a:solidFill>
                          <a:latin typeface="Calibri"/>
                        </a:rPr>
                        <a:t>3.4</a:t>
                      </a:r>
                    </a:p>
                  </a:txBody>
                  <a:tcPr marL="91440" marR="91440" anchor="ctr">
                    <a:solidFill>
                      <a:srgbClr val="FFFFFF"/>
                    </a:solidFill>
                  </a:tcPr>
                </a:tc>
                <a:tc>
                  <a:txBody>
                    <a:bodyPr/>
                    <a:lstStyle/>
                    <a:p>
                      <a:pPr algn="ctr"/>
                      <a:r>
                        <a:rPr sz="1300" b="0" i="1">
                          <a:solidFill>
                            <a:srgbClr val="6B7280"/>
                          </a:solidFill>
                          <a:latin typeface="Calibri"/>
                        </a:rPr>
                        <a:t>9.5</a:t>
                      </a:r>
                    </a:p>
                  </a:txBody>
                  <a:tcPr marL="91440" marR="91440" anchor="ctr">
                    <a:solidFill>
                      <a:srgbClr val="FFFFFF"/>
                    </a:solidFill>
                  </a:tcPr>
                </a:tc>
                <a:tc>
                  <a:txBody>
                    <a:bodyPr/>
                    <a:lstStyle/>
                    <a:p>
                      <a:pPr algn="ctr"/>
                      <a:r>
                        <a:rPr sz="1300" b="0" i="1">
                          <a:solidFill>
                            <a:srgbClr val="6B7280"/>
                          </a:solidFill>
                          <a:latin typeface="Calibri"/>
                        </a:rPr>
                        <a:t>0.35</a:t>
                      </a:r>
                    </a:p>
                  </a:txBody>
                  <a:tcPr marL="91440" marR="91440" anchor="ctr">
                    <a:solidFill>
                      <a:srgbClr val="FFFFFF"/>
                    </a:solidFill>
                  </a:tcPr>
                </a:tc>
                <a:tc>
                  <a:txBody>
                    <a:bodyPr/>
                    <a:lstStyle/>
                    <a:p>
                      <a:pPr algn="ctr"/>
                      <a:r>
                        <a:rPr sz="1300" b="0" i="1">
                          <a:solidFill>
                            <a:srgbClr val="6B7280"/>
                          </a:solidFill>
                          <a:latin typeface="Calibri"/>
                        </a:rPr>
                        <a:t>−35%</a:t>
                      </a:r>
                    </a:p>
                  </a:txBody>
                  <a:tcPr marL="91440" marR="91440" anchor="ctr">
                    <a:solidFill>
                      <a:srgbClr val="FFFFFF"/>
                    </a:solidFill>
                  </a:tcPr>
                </a:tc>
                <a:tc>
                  <a:txBody>
                    <a:bodyPr/>
                    <a:lstStyle/>
                    <a:p>
                      <a:pPr algn="ctr"/>
                      <a:r>
                        <a:rPr sz="1300" b="0" i="1">
                          <a:solidFill>
                            <a:srgbClr val="6B7280"/>
                          </a:solidFill>
                          <a:latin typeface="Calibri"/>
                        </a:rPr>
                        <a:t>0.05</a:t>
                      </a:r>
                    </a:p>
                  </a:txBody>
                  <a:tcPr marL="91440" marR="91440" anchor="ctr">
                    <a:solidFill>
                      <a:srgbClr val="FFFFFF"/>
                    </a:solidFill>
                  </a:tcPr>
                </a:tc>
                <a:tc>
                  <a:txBody>
                    <a:bodyPr/>
                    <a:lstStyle/>
                    <a:p>
                      <a:pPr algn="ctr"/>
                      <a:r>
                        <a:rPr sz="1300" b="0" i="1">
                          <a:solidFill>
                            <a:srgbClr val="6B7280"/>
                          </a:solidFill>
                          <a:latin typeface="Calibri"/>
                        </a:rPr>
                        <a:t>0.66</a:t>
                      </a:r>
                    </a:p>
                  </a:txBody>
                  <a:tcPr marL="91440" marR="91440" anchor="ctr">
                    <a:solidFill>
                      <a:srgbClr val="FFFFFF"/>
                    </a:solidFill>
                  </a:tcPr>
                </a:tc>
              </a:tr>
              <a:tr h="422910">
                <a:tc>
                  <a:txBody>
                    <a:bodyPr/>
                    <a:lstStyle/>
                    <a:p>
                      <a:pPr algn="l"/>
                      <a:r>
                        <a:rPr sz="1300" b="1" i="0">
                          <a:solidFill>
                            <a:srgbClr val="1F2937"/>
                          </a:solidFill>
                          <a:latin typeface="Calibri"/>
                        </a:rPr>
                        <a:t>3. Long rupee while reserves rise</a:t>
                      </a:r>
                    </a:p>
                  </a:txBody>
                  <a:tcPr marL="91440" marR="91440" anchor="ctr">
                    <a:solidFill>
                      <a:srgbClr val="F1F3F6"/>
                    </a:solidFill>
                  </a:tcPr>
                </a:tc>
                <a:tc>
                  <a:txBody>
                    <a:bodyPr/>
                    <a:lstStyle/>
                    <a:p>
                      <a:pPr algn="ctr"/>
                      <a:r>
                        <a:rPr sz="1300" b="0" i="0">
                          <a:solidFill>
                            <a:srgbClr val="1F2937"/>
                          </a:solidFill>
                          <a:latin typeface="Calibri"/>
                        </a:rPr>
                        <a:t>1.3</a:t>
                      </a:r>
                    </a:p>
                  </a:txBody>
                  <a:tcPr marL="91440" marR="91440" anchor="ctr">
                    <a:solidFill>
                      <a:srgbClr val="F1F3F6"/>
                    </a:solidFill>
                  </a:tcPr>
                </a:tc>
                <a:tc>
                  <a:txBody>
                    <a:bodyPr/>
                    <a:lstStyle/>
                    <a:p>
                      <a:pPr algn="ctr"/>
                      <a:r>
                        <a:rPr sz="1300" b="0" i="0">
                          <a:solidFill>
                            <a:srgbClr val="1F2937"/>
                          </a:solidFill>
                          <a:latin typeface="Calibri"/>
                        </a:rPr>
                        <a:t>4.4</a:t>
                      </a:r>
                    </a:p>
                  </a:txBody>
                  <a:tcPr marL="91440" marR="91440" anchor="ctr">
                    <a:solidFill>
                      <a:srgbClr val="F1F3F6"/>
                    </a:solidFill>
                  </a:tcPr>
                </a:tc>
                <a:tc>
                  <a:txBody>
                    <a:bodyPr/>
                    <a:lstStyle/>
                    <a:p>
                      <a:pPr algn="ctr"/>
                      <a:r>
                        <a:rPr sz="1300" b="1" i="0">
                          <a:solidFill>
                            <a:srgbClr val="1F2937"/>
                          </a:solidFill>
                          <a:latin typeface="Calibri"/>
                        </a:rPr>
                        <a:t>0.30</a:t>
                      </a:r>
                    </a:p>
                  </a:txBody>
                  <a:tcPr marL="91440" marR="91440" anchor="ctr">
                    <a:solidFill>
                      <a:srgbClr val="F1F3F6"/>
                    </a:solidFill>
                  </a:tcPr>
                </a:tc>
                <a:tc>
                  <a:txBody>
                    <a:bodyPr/>
                    <a:lstStyle/>
                    <a:p>
                      <a:pPr algn="ctr"/>
                      <a:r>
                        <a:rPr sz="1300" b="0" i="0">
                          <a:solidFill>
                            <a:srgbClr val="1F2937"/>
                          </a:solidFill>
                          <a:latin typeface="Calibri"/>
                        </a:rPr>
                        <a:t>−11%</a:t>
                      </a:r>
                    </a:p>
                  </a:txBody>
                  <a:tcPr marL="91440" marR="91440" anchor="ctr">
                    <a:solidFill>
                      <a:srgbClr val="F1F3F6"/>
                    </a:solidFill>
                  </a:tcPr>
                </a:tc>
                <a:tc>
                  <a:txBody>
                    <a:bodyPr/>
                    <a:lstStyle/>
                    <a:p>
                      <a:pPr algn="ctr"/>
                      <a:r>
                        <a:rPr sz="1300" b="0" i="0">
                          <a:solidFill>
                            <a:srgbClr val="1F2937"/>
                          </a:solidFill>
                          <a:latin typeface="Calibri"/>
                        </a:rPr>
                        <a:t>0.46</a:t>
                      </a:r>
                    </a:p>
                  </a:txBody>
                  <a:tcPr marL="91440" marR="91440" anchor="ctr">
                    <a:solidFill>
                      <a:srgbClr val="F1F3F6"/>
                    </a:solidFill>
                  </a:tcPr>
                </a:tc>
                <a:tc>
                  <a:txBody>
                    <a:bodyPr/>
                    <a:lstStyle/>
                    <a:p>
                      <a:pPr algn="ctr"/>
                      <a:r>
                        <a:rPr sz="1300" b="0" i="0">
                          <a:solidFill>
                            <a:srgbClr val="1F2937"/>
                          </a:solidFill>
                          <a:latin typeface="Calibri"/>
                        </a:rPr>
                        <a:t>0.10</a:t>
                      </a:r>
                    </a:p>
                  </a:txBody>
                  <a:tcPr marL="91440" marR="91440" anchor="ctr">
                    <a:solidFill>
                      <a:srgbClr val="F1F3F6"/>
                    </a:solidFill>
                  </a:tcPr>
                </a:tc>
              </a:tr>
              <a:tr h="422910">
                <a:tc>
                  <a:txBody>
                    <a:bodyPr/>
                    <a:lstStyle/>
                    <a:p>
                      <a:pPr algn="l"/>
                      <a:r>
                        <a:rPr sz="1300" b="0" i="1">
                          <a:solidFill>
                            <a:srgbClr val="6B7280"/>
                          </a:solidFill>
                          <a:latin typeface="Calibri"/>
                        </a:rPr>
                        <a:t>benchmark: always long rupee</a:t>
                      </a:r>
                    </a:p>
                  </a:txBody>
                  <a:tcPr marL="91440" marR="91440" anchor="ctr">
                    <a:solidFill>
                      <a:srgbClr val="FFFFFF"/>
                    </a:solidFill>
                  </a:tcPr>
                </a:tc>
                <a:tc>
                  <a:txBody>
                    <a:bodyPr/>
                    <a:lstStyle/>
                    <a:p>
                      <a:pPr algn="ctr"/>
                      <a:r>
                        <a:rPr sz="1300" b="0" i="1">
                          <a:solidFill>
                            <a:srgbClr val="6B7280"/>
                          </a:solidFill>
                          <a:latin typeface="Calibri"/>
                        </a:rPr>
                        <a:t>1.1</a:t>
                      </a:r>
                    </a:p>
                  </a:txBody>
                  <a:tcPr marL="91440" marR="91440" anchor="ctr">
                    <a:solidFill>
                      <a:srgbClr val="FFFFFF"/>
                    </a:solidFill>
                  </a:tcPr>
                </a:tc>
                <a:tc>
                  <a:txBody>
                    <a:bodyPr/>
                    <a:lstStyle/>
                    <a:p>
                      <a:pPr algn="ctr"/>
                      <a:r>
                        <a:rPr sz="1300" b="0" i="1">
                          <a:solidFill>
                            <a:srgbClr val="6B7280"/>
                          </a:solidFill>
                          <a:latin typeface="Calibri"/>
                        </a:rPr>
                        <a:t>6.6</a:t>
                      </a:r>
                    </a:p>
                  </a:txBody>
                  <a:tcPr marL="91440" marR="91440" anchor="ctr">
                    <a:solidFill>
                      <a:srgbClr val="FFFFFF"/>
                    </a:solidFill>
                  </a:tcPr>
                </a:tc>
                <a:tc>
                  <a:txBody>
                    <a:bodyPr/>
                    <a:lstStyle/>
                    <a:p>
                      <a:pPr algn="ctr"/>
                      <a:r>
                        <a:rPr sz="1300" b="0" i="1">
                          <a:solidFill>
                            <a:srgbClr val="6B7280"/>
                          </a:solidFill>
                          <a:latin typeface="Calibri"/>
                        </a:rPr>
                        <a:t>0.16</a:t>
                      </a:r>
                    </a:p>
                  </a:txBody>
                  <a:tcPr marL="91440" marR="91440" anchor="ctr">
                    <a:solidFill>
                      <a:srgbClr val="FFFFFF"/>
                    </a:solidFill>
                  </a:tcPr>
                </a:tc>
                <a:tc>
                  <a:txBody>
                    <a:bodyPr/>
                    <a:lstStyle/>
                    <a:p>
                      <a:pPr algn="ctr"/>
                      <a:r>
                        <a:rPr sz="1300" b="0" i="1">
                          <a:solidFill>
                            <a:srgbClr val="6B7280"/>
                          </a:solidFill>
                          <a:latin typeface="Calibri"/>
                        </a:rPr>
                        <a:t>−21%</a:t>
                      </a:r>
                    </a:p>
                  </a:txBody>
                  <a:tcPr marL="91440" marR="91440" anchor="ctr">
                    <a:solidFill>
                      <a:srgbClr val="FFFFFF"/>
                    </a:solidFill>
                  </a:tcPr>
                </a:tc>
                <a:tc>
                  <a:txBody>
                    <a:bodyPr/>
                    <a:lstStyle/>
                    <a:p>
                      <a:pPr algn="ctr"/>
                      <a:r>
                        <a:rPr sz="1300" b="0" i="1">
                          <a:solidFill>
                            <a:srgbClr val="6B7280"/>
                          </a:solidFill>
                          <a:latin typeface="Calibri"/>
                        </a:rPr>
                        <a:t>0.26</a:t>
                      </a:r>
                    </a:p>
                  </a:txBody>
                  <a:tcPr marL="91440" marR="91440" anchor="ctr">
                    <a:solidFill>
                      <a:srgbClr val="FFFFFF"/>
                    </a:solidFill>
                  </a:tcPr>
                </a:tc>
                <a:tc>
                  <a:txBody>
                    <a:bodyPr/>
                    <a:lstStyle/>
                    <a:p>
                      <a:pPr algn="ctr"/>
                      <a:r>
                        <a:rPr sz="1300" b="0" i="1">
                          <a:solidFill>
                            <a:srgbClr val="6B7280"/>
                          </a:solidFill>
                          <a:latin typeface="Calibri"/>
                        </a:rPr>
                        <a:t>0.06</a:t>
                      </a:r>
                    </a:p>
                  </a:txBody>
                  <a:tcPr marL="91440" marR="91440" anchor="ctr">
                    <a:solidFill>
                      <a:srgbClr val="FFFFFF"/>
                    </a:solidFill>
                  </a:tcPr>
                </a:tc>
              </a:tr>
            </a:tbl>
          </a:graphicData>
        </a:graphic>
      </p:graphicFrame>
      <p:sp>
        <p:nvSpPr>
          <p:cNvPr id="5" name="Rounded Rectangle 4"/>
          <p:cNvSpPr/>
          <p:nvPr/>
        </p:nvSpPr>
        <p:spPr>
          <a:xfrm>
            <a:off x="548640" y="5257800"/>
            <a:ext cx="11064240" cy="77724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349240"/>
            <a:ext cx="10607040" cy="640080"/>
          </a:xfrm>
          <a:prstGeom prst="rect">
            <a:avLst/>
          </a:prstGeom>
          <a:noFill/>
        </p:spPr>
        <p:txBody>
          <a:bodyPr wrap="square" lIns="0" rIns="0" tIns="0" bIns="0" anchor="ctr">
            <a:spAutoFit/>
          </a:bodyPr>
          <a:lstStyle/>
          <a:p>
            <a:pPr algn="l">
              <a:spcAft>
                <a:spcPts val="600"/>
              </a:spcAft>
            </a:pPr>
            <a:r>
              <a:rPr sz="1400" b="0" i="0">
                <a:solidFill>
                  <a:srgbClr val="1F2937"/>
                </a:solidFill>
                <a:latin typeface="Calibri"/>
              </a:rPr>
              <a:t>Say this out loud: unlevered, plain carry earns more (3.4% vs 2.9%/yr). At the SAME risk the core would earn ~5.6%/yr vs 3.4%, with a similar worst drawdown (−19% vs −18%).</a:t>
            </a:r>
          </a:p>
        </p:txBody>
      </p:sp>
      <p:sp>
        <p:nvSpPr>
          <p:cNvPr id="7" name="TextBox 6"/>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Net of costs, monthly Jan 2000–Sep 2026; research.ipynb ⭐ Final proposal</a:t>
            </a:r>
          </a:p>
        </p:txBody>
      </p:sp>
      <p:sp>
        <p:nvSpPr>
          <p:cNvPr id="8" name="TextBox 7"/>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9" name="TextBox 8"/>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2A78D6"/>
                </a:solidFill>
                <a:latin typeface="Calibri"/>
              </a:rPr>
              <a:t>WHERE WE STAND</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What the model says today (end of September 2026)</a:t>
            </a:r>
          </a:p>
        </p:txBody>
      </p:sp>
      <p:graphicFrame>
        <p:nvGraphicFramePr>
          <p:cNvPr id="4" name="Chart 3"/>
          <p:cNvGraphicFramePr>
            <a:graphicFrameLocks noGrp="1"/>
          </p:cNvGraphicFramePr>
          <p:nvPr/>
        </p:nvGraphicFramePr>
        <p:xfrm>
          <a:off x="548640" y="1645920"/>
          <a:ext cx="6309360" cy="4434840"/>
        </p:xfrm>
        <a:graphic>
          <a:graphicData uri="http://schemas.openxmlformats.org/drawingml/2006/chart">
            <c:chart xmlns:c="http://schemas.openxmlformats.org/drawingml/2006/chart" r:id="rId2"/>
          </a:graphicData>
        </a:graphic>
      </p:graphicFrame>
      <p:sp>
        <p:nvSpPr>
          <p:cNvPr id="5" name="Rounded Rectangle 4"/>
          <p:cNvSpPr/>
          <p:nvPr/>
        </p:nvSpPr>
        <p:spPr>
          <a:xfrm>
            <a:off x="7223760" y="1645920"/>
            <a:ext cx="443484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06640" y="18288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02</a:t>
            </a:r>
          </a:p>
        </p:txBody>
      </p:sp>
      <p:sp>
        <p:nvSpPr>
          <p:cNvPr id="7" name="TextBox 6"/>
          <p:cNvSpPr txBox="1"/>
          <p:nvPr/>
        </p:nvSpPr>
        <p:spPr>
          <a:xfrm>
            <a:off x="8092440" y="1792224"/>
            <a:ext cx="3383280" cy="1097280"/>
          </a:xfrm>
          <a:prstGeom prst="rect">
            <a:avLst/>
          </a:prstGeom>
          <a:noFill/>
        </p:spPr>
        <p:txBody>
          <a:bodyPr wrap="square" lIns="0" rIns="0" tIns="0" bIns="0" anchor="t">
            <a:spAutoFit/>
          </a:bodyPr>
          <a:lstStyle/>
          <a:p>
            <a:pPr algn="l">
              <a:spcAft>
                <a:spcPts val="300"/>
              </a:spcAft>
            </a:pPr>
            <a:r>
              <a:rPr sz="1500" b="1" i="0">
                <a:solidFill>
                  <a:srgbClr val="1F2937"/>
                </a:solidFill>
                <a:latin typeface="Calibri"/>
              </a:rPr>
              <a:t>Short yen: PAUSED</a:t>
            </a:r>
          </a:p>
          <a:p>
            <a:pPr algn="l">
              <a:spcAft>
                <a:spcPts val="600"/>
              </a:spcAft>
            </a:pPr>
            <a:r>
              <a:rPr sz="1250" b="0" i="0">
                <a:solidFill>
                  <a:srgbClr val="374151"/>
                </a:solidFill>
                <a:latin typeface="Calibri"/>
              </a:rPr>
              <a:t>Rate gap 2.8pp (above 2 ✓), but the MoF bought yen in July. Re-enter in November if the gap holds.</a:t>
            </a:r>
          </a:p>
        </p:txBody>
      </p:sp>
      <p:sp>
        <p:nvSpPr>
          <p:cNvPr id="8" name="Rounded Rectangle 7"/>
          <p:cNvSpPr/>
          <p:nvPr/>
        </p:nvSpPr>
        <p:spPr>
          <a:xfrm>
            <a:off x="7223760" y="3127248"/>
            <a:ext cx="443484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406640" y="3310128"/>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03</a:t>
            </a:r>
          </a:p>
        </p:txBody>
      </p:sp>
      <p:sp>
        <p:nvSpPr>
          <p:cNvPr id="10" name="TextBox 9"/>
          <p:cNvSpPr txBox="1"/>
          <p:nvPr/>
        </p:nvSpPr>
        <p:spPr>
          <a:xfrm>
            <a:off x="8092440" y="3273552"/>
            <a:ext cx="3383280" cy="1097280"/>
          </a:xfrm>
          <a:prstGeom prst="rect">
            <a:avLst/>
          </a:prstGeom>
          <a:noFill/>
        </p:spPr>
        <p:txBody>
          <a:bodyPr wrap="square" lIns="0" rIns="0" tIns="0" bIns="0" anchor="t">
            <a:spAutoFit/>
          </a:bodyPr>
          <a:lstStyle/>
          <a:p>
            <a:pPr algn="l">
              <a:spcAft>
                <a:spcPts val="300"/>
              </a:spcAft>
            </a:pPr>
            <a:r>
              <a:rPr sz="1500" b="1" i="0">
                <a:solidFill>
                  <a:srgbClr val="1F2937"/>
                </a:solidFill>
                <a:latin typeface="Calibri"/>
              </a:rPr>
              <a:t>Rupee watch: weak ON</a:t>
            </a:r>
          </a:p>
          <a:p>
            <a:pPr algn="l">
              <a:spcAft>
                <a:spcPts val="600"/>
              </a:spcAft>
            </a:pPr>
            <a:r>
              <a:rPr sz="1250" b="0" i="0">
                <a:solidFill>
                  <a:srgbClr val="374151"/>
                </a:solidFill>
                <a:latin typeface="Calibri"/>
              </a:rPr>
              <a:t>Reserves +2.2% over 3 months, but mostly borrowed FCNR dollars. Fundamentals still weak.</a:t>
            </a:r>
          </a:p>
        </p:txBody>
      </p:sp>
      <p:sp>
        <p:nvSpPr>
          <p:cNvPr id="11" name="Rounded Rectangle 10"/>
          <p:cNvSpPr/>
          <p:nvPr/>
        </p:nvSpPr>
        <p:spPr>
          <a:xfrm>
            <a:off x="7223760" y="4608576"/>
            <a:ext cx="4434840" cy="132588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406640" y="4791456"/>
            <a:ext cx="502920" cy="50292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a:t>
            </a:r>
          </a:p>
        </p:txBody>
      </p:sp>
      <p:sp>
        <p:nvSpPr>
          <p:cNvPr id="13" name="TextBox 12"/>
          <p:cNvSpPr txBox="1"/>
          <p:nvPr/>
        </p:nvSpPr>
        <p:spPr>
          <a:xfrm>
            <a:off x="8092440" y="4754880"/>
            <a:ext cx="3383280" cy="1097280"/>
          </a:xfrm>
          <a:prstGeom prst="rect">
            <a:avLst/>
          </a:prstGeom>
          <a:noFill/>
        </p:spPr>
        <p:txBody>
          <a:bodyPr wrap="square" lIns="0" rIns="0" tIns="0" bIns="0" anchor="t">
            <a:spAutoFit/>
          </a:bodyPr>
          <a:lstStyle/>
          <a:p>
            <a:pPr algn="l">
              <a:spcAft>
                <a:spcPts val="300"/>
              </a:spcAft>
            </a:pPr>
            <a:r>
              <a:rPr sz="1500" b="1" i="0">
                <a:solidFill>
                  <a:srgbClr val="1F2937"/>
                </a:solidFill>
                <a:latin typeface="Calibri"/>
              </a:rPr>
              <a:t>Long book is commodity-heavy</a:t>
            </a:r>
          </a:p>
          <a:p>
            <a:pPr algn="l">
              <a:spcAft>
                <a:spcPts val="600"/>
              </a:spcAft>
            </a:pPr>
            <a:r>
              <a:rPr sz="1250" b="0" i="0">
                <a:solidFill>
                  <a:srgbClr val="374151"/>
                </a:solidFill>
                <a:latin typeface="Calibri"/>
              </a:rPr>
              <a:t>BRL, ZAR, NOK, IDR: a commodity crash is the scenario to stress-test.</a:t>
            </a:r>
          </a:p>
        </p:txBody>
      </p:sp>
      <p:sp>
        <p:nvSpPr>
          <p:cNvPr id="14" name="TextBox 13"/>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research.ipynb §7 and ⭐ Final proposal (signals as of Sep 2026)</a:t>
            </a:r>
          </a:p>
        </p:txBody>
      </p:sp>
      <p:sp>
        <p:nvSpPr>
          <p:cNvPr id="15" name="TextBox 14"/>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16" name="TextBox 15"/>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spcAft>
                <a:spcPts val="600"/>
              </a:spcAft>
            </a:pPr>
            <a:r>
              <a:rPr sz="1200" b="1" i="0">
                <a:solidFill>
                  <a:srgbClr val="2A78D6"/>
                </a:solidFill>
                <a:latin typeface="Calibri"/>
              </a:rPr>
              <a:t>RISKS</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Aft>
                <a:spcPts val="600"/>
              </a:spcAft>
            </a:pPr>
            <a:r>
              <a:rPr sz="3200" b="1" i="0">
                <a:solidFill>
                  <a:srgbClr val="1F2937"/>
                </a:solidFill>
                <a:latin typeface="Cambria"/>
              </a:rPr>
              <a:t>What would make us change our mind</a:t>
            </a:r>
          </a:p>
        </p:txBody>
      </p:sp>
      <p:sp>
        <p:nvSpPr>
          <p:cNvPr id="4" name="Rounded Rectangle 3"/>
          <p:cNvSpPr/>
          <p:nvPr/>
        </p:nvSpPr>
        <p:spPr>
          <a:xfrm>
            <a:off x="548640" y="1828800"/>
            <a:ext cx="5440680" cy="173736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103120"/>
            <a:ext cx="594360" cy="59436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6" name="TextBox 5"/>
          <p:cNvSpPr txBox="1"/>
          <p:nvPr/>
        </p:nvSpPr>
        <p:spPr>
          <a:xfrm>
            <a:off x="1645919" y="2121408"/>
            <a:ext cx="4114800" cy="1508760"/>
          </a:xfrm>
          <a:prstGeom prst="rect">
            <a:avLst/>
          </a:prstGeom>
          <a:noFill/>
        </p:spPr>
        <p:txBody>
          <a:bodyPr wrap="square" lIns="0" rIns="0" tIns="0" bIns="0" anchor="t">
            <a:spAutoFit/>
          </a:bodyPr>
          <a:lstStyle/>
          <a:p>
            <a:pPr algn="l">
              <a:spcAft>
                <a:spcPts val="600"/>
              </a:spcAft>
            </a:pPr>
            <a:r>
              <a:rPr sz="1800" b="1" i="0">
                <a:solidFill>
                  <a:srgbClr val="1F2937"/>
                </a:solidFill>
                <a:latin typeface="Cambria"/>
              </a:rPr>
              <a:t>Core drawdown beyond −15%</a:t>
            </a:r>
          </a:p>
          <a:p>
            <a:pPr algn="l">
              <a:spcAft>
                <a:spcPts val="600"/>
              </a:spcAft>
            </a:pPr>
            <a:r>
              <a:rPr sz="1400" b="0" i="0">
                <a:solidFill>
                  <a:srgbClr val="374151"/>
                </a:solidFill>
                <a:latin typeface="Calibri"/>
              </a:rPr>
              <a:t>1.5× the historical worst, or a negative 3-year Sharpe: pause and re-examine.</a:t>
            </a:r>
          </a:p>
        </p:txBody>
      </p:sp>
      <p:sp>
        <p:nvSpPr>
          <p:cNvPr id="7" name="Rounded Rectangle 6"/>
          <p:cNvSpPr/>
          <p:nvPr/>
        </p:nvSpPr>
        <p:spPr>
          <a:xfrm>
            <a:off x="6172200" y="1828800"/>
            <a:ext cx="5440680" cy="173736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46520" y="2103120"/>
            <a:ext cx="594360" cy="59436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9" name="TextBox 8"/>
          <p:cNvSpPr txBox="1"/>
          <p:nvPr/>
        </p:nvSpPr>
        <p:spPr>
          <a:xfrm>
            <a:off x="7269480" y="2121408"/>
            <a:ext cx="4114800" cy="1508760"/>
          </a:xfrm>
          <a:prstGeom prst="rect">
            <a:avLst/>
          </a:prstGeom>
          <a:noFill/>
        </p:spPr>
        <p:txBody>
          <a:bodyPr wrap="square" lIns="0" rIns="0" tIns="0" bIns="0" anchor="t">
            <a:spAutoFit/>
          </a:bodyPr>
          <a:lstStyle/>
          <a:p>
            <a:pPr algn="l">
              <a:spcAft>
                <a:spcPts val="600"/>
              </a:spcAft>
            </a:pPr>
            <a:r>
              <a:rPr sz="1800" b="1" i="0">
                <a:solidFill>
                  <a:srgbClr val="1F2937"/>
                </a:solidFill>
                <a:latin typeface="Cambria"/>
              </a:rPr>
              <a:t>Global commodity crash</a:t>
            </a:r>
          </a:p>
          <a:p>
            <a:pPr algn="l">
              <a:spcAft>
                <a:spcPts val="600"/>
              </a:spcAft>
            </a:pPr>
            <a:r>
              <a:rPr sz="1400" b="0" i="0">
                <a:solidFill>
                  <a:srgbClr val="374151"/>
                </a:solidFill>
                <a:latin typeface="Calibri"/>
              </a:rPr>
              <a:t>The long book leans on commodity exporters (BRL, ZAR, NOK, IDR).</a:t>
            </a:r>
          </a:p>
        </p:txBody>
      </p:sp>
      <p:sp>
        <p:nvSpPr>
          <p:cNvPr id="10" name="Rounded Rectangle 9"/>
          <p:cNvSpPr/>
          <p:nvPr/>
        </p:nvSpPr>
        <p:spPr>
          <a:xfrm>
            <a:off x="548640" y="3840480"/>
            <a:ext cx="5440680" cy="173736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959" y="4114800"/>
            <a:ext cx="594360" cy="59436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12" name="TextBox 11"/>
          <p:cNvSpPr txBox="1"/>
          <p:nvPr/>
        </p:nvSpPr>
        <p:spPr>
          <a:xfrm>
            <a:off x="1645919" y="4133088"/>
            <a:ext cx="4114800" cy="1508760"/>
          </a:xfrm>
          <a:prstGeom prst="rect">
            <a:avLst/>
          </a:prstGeom>
          <a:noFill/>
        </p:spPr>
        <p:txBody>
          <a:bodyPr wrap="square" lIns="0" rIns="0" tIns="0" bIns="0" anchor="t">
            <a:spAutoFit/>
          </a:bodyPr>
          <a:lstStyle/>
          <a:p>
            <a:pPr algn="l">
              <a:spcAft>
                <a:spcPts val="600"/>
              </a:spcAft>
            </a:pPr>
            <a:r>
              <a:rPr sz="1800" b="1" i="0">
                <a:solidFill>
                  <a:srgbClr val="1F2937"/>
                </a:solidFill>
                <a:latin typeface="Cambria"/>
              </a:rPr>
              <a:t>US–Japan gap below 2pp</a:t>
            </a:r>
          </a:p>
          <a:p>
            <a:pPr algn="l">
              <a:spcAft>
                <a:spcPts val="600"/>
              </a:spcAft>
            </a:pPr>
            <a:r>
              <a:rPr sz="1400" b="0" i="0">
                <a:solidFill>
                  <a:srgbClr val="374151"/>
                </a:solidFill>
                <a:latin typeface="Calibri"/>
              </a:rPr>
              <a:t>Fed cuts or faster BoJ hikes switch the yen trade off automatically.</a:t>
            </a:r>
          </a:p>
        </p:txBody>
      </p:sp>
      <p:sp>
        <p:nvSpPr>
          <p:cNvPr id="13" name="Rounded Rectangle 12"/>
          <p:cNvSpPr/>
          <p:nvPr/>
        </p:nvSpPr>
        <p:spPr>
          <a:xfrm>
            <a:off x="6172200" y="3840480"/>
            <a:ext cx="5440680" cy="1737360"/>
          </a:xfrm>
          <a:prstGeom prst="roundRect">
            <a:avLst>
              <a:gd name="adj" fmla="val 6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6520" y="4114800"/>
            <a:ext cx="594360" cy="594360"/>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4</a:t>
            </a:r>
          </a:p>
        </p:txBody>
      </p:sp>
      <p:sp>
        <p:nvSpPr>
          <p:cNvPr id="15" name="TextBox 14"/>
          <p:cNvSpPr txBox="1"/>
          <p:nvPr/>
        </p:nvSpPr>
        <p:spPr>
          <a:xfrm>
            <a:off x="7269480" y="4133088"/>
            <a:ext cx="4114800" cy="1508760"/>
          </a:xfrm>
          <a:prstGeom prst="rect">
            <a:avLst/>
          </a:prstGeom>
          <a:noFill/>
        </p:spPr>
        <p:txBody>
          <a:bodyPr wrap="square" lIns="0" rIns="0" tIns="0" bIns="0" anchor="t">
            <a:spAutoFit/>
          </a:bodyPr>
          <a:lstStyle/>
          <a:p>
            <a:pPr algn="l">
              <a:spcAft>
                <a:spcPts val="600"/>
              </a:spcAft>
            </a:pPr>
            <a:r>
              <a:rPr sz="1800" b="1" i="0">
                <a:solidFill>
                  <a:srgbClr val="1F2937"/>
                </a:solidFill>
                <a:latin typeface="Cambria"/>
              </a:rPr>
              <a:t>Not truly out-of-sample</a:t>
            </a:r>
          </a:p>
          <a:p>
            <a:pPr algn="l">
              <a:spcAft>
                <a:spcPts val="600"/>
              </a:spcAft>
            </a:pPr>
            <a:r>
              <a:rPr sz="1400" b="0" i="0">
                <a:solidFill>
                  <a:srgbClr val="374151"/>
                </a:solidFill>
                <a:latin typeface="Calibri"/>
              </a:rPr>
              <a:t>Chosen after seeing the data. Real test: paper-trade from Oct 2026 and add ~13 more currencies.</a:t>
            </a:r>
          </a:p>
        </p:txBody>
      </p:sp>
      <p:sp>
        <p:nvSpPr>
          <p:cNvPr id="16" name="TextBox 15"/>
          <p:cNvSpPr txBox="1"/>
          <p:nvPr/>
        </p:nvSpPr>
        <p:spPr>
          <a:xfrm>
            <a:off x="548640" y="6199632"/>
            <a:ext cx="8686800" cy="228600"/>
          </a:xfrm>
          <a:prstGeom prst="rect">
            <a:avLst/>
          </a:prstGeom>
          <a:noFill/>
        </p:spPr>
        <p:txBody>
          <a:bodyPr wrap="square" lIns="0" rIns="0" tIns="0" bIns="0" anchor="t">
            <a:spAutoFit/>
          </a:bodyPr>
          <a:lstStyle/>
          <a:p>
            <a:pPr algn="l">
              <a:spcAft>
                <a:spcPts val="600"/>
              </a:spcAft>
            </a:pPr>
            <a:r>
              <a:rPr sz="900" b="0" i="0">
                <a:solidFill>
                  <a:srgbClr val="6B7280"/>
                </a:solidFill>
                <a:latin typeface="Calibri"/>
              </a:rPr>
              <a:t>Source: research.ipynb §8.4 and ⭐ kill criteria</a:t>
            </a:r>
          </a:p>
        </p:txBody>
      </p:sp>
      <p:sp>
        <p:nvSpPr>
          <p:cNvPr id="17" name="TextBox 16"/>
          <p:cNvSpPr txBox="1"/>
          <p:nvPr/>
        </p:nvSpPr>
        <p:spPr>
          <a:xfrm>
            <a:off x="548640" y="6446520"/>
            <a:ext cx="9144000" cy="228600"/>
          </a:xfrm>
          <a:prstGeom prst="rect">
            <a:avLst/>
          </a:prstGeom>
          <a:noFill/>
        </p:spPr>
        <p:txBody>
          <a:bodyPr wrap="square" lIns="0" rIns="0" tIns="0" bIns="0" anchor="t">
            <a:spAutoFit/>
          </a:bodyPr>
          <a:lstStyle/>
          <a:p>
            <a:pPr algn="l">
              <a:spcAft>
                <a:spcPts val="600"/>
              </a:spcAft>
            </a:pPr>
            <a:r>
              <a:rPr sz="900" b="0" i="1">
                <a:solidFill>
                  <a:srgbClr val="6B7280"/>
                </a:solidFill>
                <a:latin typeface="Calibri"/>
              </a:rPr>
              <a:t>EXAMPLE DECK · numbers from forex-drift-idea/research.ipynb (data through 25 Sep 2026)</a:t>
            </a:r>
          </a:p>
        </p:txBody>
      </p:sp>
      <p:sp>
        <p:nvSpPr>
          <p:cNvPr id="18" name="TextBox 17"/>
          <p:cNvSpPr txBox="1"/>
          <p:nvPr/>
        </p:nvSpPr>
        <p:spPr>
          <a:xfrm>
            <a:off x="11064240" y="6446520"/>
            <a:ext cx="576072" cy="228600"/>
          </a:xfrm>
          <a:prstGeom prst="rect">
            <a:avLst/>
          </a:prstGeom>
          <a:noFill/>
        </p:spPr>
        <p:txBody>
          <a:bodyPr wrap="square" lIns="0" rIns="0" tIns="0" bIns="0" anchor="t">
            <a:spAutoFit/>
          </a:bodyPr>
          <a:lstStyle/>
          <a:p>
            <a:pPr algn="r">
              <a:spcAft>
                <a:spcPts val="600"/>
              </a:spcAft>
            </a:pPr>
            <a:r>
              <a:rPr sz="1000" b="0" i="0">
                <a:solidFill>
                  <a:srgbClr val="6B72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822960"/>
            <a:ext cx="10058400" cy="365760"/>
          </a:xfrm>
          <a:prstGeom prst="rect">
            <a:avLst/>
          </a:prstGeom>
          <a:noFill/>
        </p:spPr>
        <p:txBody>
          <a:bodyPr wrap="square" lIns="0" rIns="0" tIns="0" bIns="0" anchor="t">
            <a:spAutoFit/>
          </a:bodyPr>
          <a:lstStyle/>
          <a:p>
            <a:pPr algn="l">
              <a:spcAft>
                <a:spcPts val="600"/>
              </a:spcAft>
            </a:pPr>
            <a:r>
              <a:rPr sz="1300" b="1" i="0">
                <a:solidFill>
                  <a:srgbClr val="C9D4E8"/>
                </a:solidFill>
                <a:latin typeface="Calibri"/>
              </a:rPr>
              <a:t>TAKEAWAYS</a:t>
            </a:r>
          </a:p>
        </p:txBody>
      </p:sp>
      <p:sp>
        <p:nvSpPr>
          <p:cNvPr id="3" name="Oval 2"/>
          <p:cNvSpPr/>
          <p:nvPr/>
        </p:nvSpPr>
        <p:spPr>
          <a:xfrm>
            <a:off x="731520" y="1463040"/>
            <a:ext cx="685800" cy="6858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4" name="TextBox 3"/>
          <p:cNvSpPr txBox="1"/>
          <p:nvPr/>
        </p:nvSpPr>
        <p:spPr>
          <a:xfrm>
            <a:off x="1691640" y="1463040"/>
            <a:ext cx="9966960" cy="685800"/>
          </a:xfrm>
          <a:prstGeom prst="rect">
            <a:avLst/>
          </a:prstGeom>
          <a:noFill/>
        </p:spPr>
        <p:txBody>
          <a:bodyPr wrap="square" lIns="0" rIns="0" tIns="0" bIns="0" anchor="ctr">
            <a:spAutoFit/>
          </a:bodyPr>
          <a:lstStyle/>
          <a:p>
            <a:pPr algn="l">
              <a:spcAft>
                <a:spcPts val="600"/>
              </a:spcAft>
            </a:pPr>
            <a:r>
              <a:rPr sz="2000" b="0" i="0">
                <a:solidFill>
                  <a:srgbClr val="FFFFFF"/>
                </a:solidFill>
                <a:latin typeface="Cambria"/>
              </a:rPr>
              <a:t>Rates don't predict where currencies drift, and governments' fights rarely change the trend.</a:t>
            </a:r>
          </a:p>
        </p:txBody>
      </p:sp>
      <p:sp>
        <p:nvSpPr>
          <p:cNvPr id="5" name="Oval 4"/>
          <p:cNvSpPr/>
          <p:nvPr/>
        </p:nvSpPr>
        <p:spPr>
          <a:xfrm>
            <a:off x="731520" y="2651760"/>
            <a:ext cx="685800" cy="6858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6" name="TextBox 5"/>
          <p:cNvSpPr txBox="1"/>
          <p:nvPr/>
        </p:nvSpPr>
        <p:spPr>
          <a:xfrm>
            <a:off x="1691640" y="2651760"/>
            <a:ext cx="9966960" cy="685800"/>
          </a:xfrm>
          <a:prstGeom prst="rect">
            <a:avLst/>
          </a:prstGeom>
          <a:noFill/>
        </p:spPr>
        <p:txBody>
          <a:bodyPr wrap="square" lIns="0" rIns="0" tIns="0" bIns="0" anchor="ctr">
            <a:spAutoFit/>
          </a:bodyPr>
          <a:lstStyle/>
          <a:p>
            <a:pPr algn="l">
              <a:spcAft>
                <a:spcPts val="600"/>
              </a:spcAft>
            </a:pPr>
            <a:r>
              <a:rPr sz="2000" b="0" i="0">
                <a:solidFill>
                  <a:srgbClr val="FFFFFF"/>
                </a:solidFill>
                <a:latin typeface="Cambria"/>
              </a:rPr>
              <a:t>Defended net-importer currencies are the worst place to earn carry.</a:t>
            </a:r>
          </a:p>
        </p:txBody>
      </p:sp>
      <p:sp>
        <p:nvSpPr>
          <p:cNvPr id="7" name="Oval 6"/>
          <p:cNvSpPr/>
          <p:nvPr/>
        </p:nvSpPr>
        <p:spPr>
          <a:xfrm>
            <a:off x="731520" y="3840480"/>
            <a:ext cx="685800" cy="685800"/>
          </a:xfrm>
          <a:prstGeom prst="ellipse">
            <a:avLst/>
          </a:prstGeom>
          <a:solidFill>
            <a:srgbClr val="1B8F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8" name="TextBox 7"/>
          <p:cNvSpPr txBox="1"/>
          <p:nvPr/>
        </p:nvSpPr>
        <p:spPr>
          <a:xfrm>
            <a:off x="1691640" y="3840480"/>
            <a:ext cx="9966960" cy="685800"/>
          </a:xfrm>
          <a:prstGeom prst="rect">
            <a:avLst/>
          </a:prstGeom>
          <a:noFill/>
        </p:spPr>
        <p:txBody>
          <a:bodyPr wrap="square" lIns="0" rIns="0" tIns="0" bIns="0" anchor="ctr">
            <a:spAutoFit/>
          </a:bodyPr>
          <a:lstStyle/>
          <a:p>
            <a:pPr algn="l">
              <a:spcAft>
                <a:spcPts val="600"/>
              </a:spcAft>
            </a:pPr>
            <a:r>
              <a:rPr sz="2000" b="0" i="0">
                <a:solidFill>
                  <a:srgbClr val="FFFFFF"/>
                </a:solidFill>
                <a:latin typeface="Cambria"/>
              </a:rPr>
              <a:t>Carry + trade balance: Sharpe 0.73 vs 0.44, half the drawdown, stable across 27 years.</a:t>
            </a:r>
          </a:p>
        </p:txBody>
      </p:sp>
      <p:sp>
        <p:nvSpPr>
          <p:cNvPr id="9" name="TextBox 8"/>
          <p:cNvSpPr txBox="1"/>
          <p:nvPr/>
        </p:nvSpPr>
        <p:spPr>
          <a:xfrm>
            <a:off x="731520" y="5120640"/>
            <a:ext cx="10515600" cy="822960"/>
          </a:xfrm>
          <a:prstGeom prst="rect">
            <a:avLst/>
          </a:prstGeom>
          <a:noFill/>
        </p:spPr>
        <p:txBody>
          <a:bodyPr wrap="square" lIns="0" rIns="0" tIns="0" bIns="0" anchor="t">
            <a:spAutoFit/>
          </a:bodyPr>
          <a:lstStyle/>
          <a:p>
            <a:pPr algn="l">
              <a:spcAft>
                <a:spcPts val="400"/>
              </a:spcAft>
            </a:pPr>
            <a:r>
              <a:rPr sz="3000" b="1" i="0">
                <a:solidFill>
                  <a:srgbClr val="FFFFFF"/>
                </a:solidFill>
                <a:latin typeface="Cambria"/>
              </a:rPr>
              <a:t>Questions?</a:t>
            </a:r>
          </a:p>
          <a:p>
            <a:pPr algn="l">
              <a:spcAft>
                <a:spcPts val="600"/>
              </a:spcAft>
            </a:pPr>
            <a:r>
              <a:rPr sz="1400" b="0" i="0">
                <a:solidFill>
                  <a:srgbClr val="C9D4E8"/>
                </a:solidFill>
                <a:latin typeface="Calibri"/>
              </a:rPr>
              <a:t>Full research, data and code: github.com/ethanl814/CIB  →  forex-drift-idea/</a:t>
            </a:r>
          </a:p>
        </p:txBody>
      </p:sp>
      <p:sp>
        <p:nvSpPr>
          <p:cNvPr id="10" name="TextBox 9"/>
          <p:cNvSpPr txBox="1"/>
          <p:nvPr/>
        </p:nvSpPr>
        <p:spPr>
          <a:xfrm>
            <a:off x="731520" y="6446520"/>
            <a:ext cx="10058400" cy="228600"/>
          </a:xfrm>
          <a:prstGeom prst="rect">
            <a:avLst/>
          </a:prstGeom>
          <a:noFill/>
        </p:spPr>
        <p:txBody>
          <a:bodyPr wrap="square" lIns="0" rIns="0" tIns="0" bIns="0" anchor="t">
            <a:spAutoFit/>
          </a:bodyPr>
          <a:lstStyle/>
          <a:p>
            <a:pPr algn="l">
              <a:spcAft>
                <a:spcPts val="600"/>
              </a:spcAft>
            </a:pPr>
            <a:r>
              <a:rPr sz="900" b="0" i="1">
                <a:solidFill>
                  <a:srgbClr val="C9D4E8"/>
                </a:solidFill>
                <a:latin typeface="Calibri"/>
              </a:rPr>
              <a:t>EXAMPLE DECK · numbers from forex-drift-idea/research.ipynb (data through 25 Sep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